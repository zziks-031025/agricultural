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59" r:id="rId4"/>
    <p:sldId id="264" r:id="rId5"/>
    <p:sldId id="265" r:id="rId6"/>
    <p:sldId id="267" r:id="rId7"/>
    <p:sldId id="283" r:id="rId8"/>
    <p:sldId id="284" r:id="rId9"/>
    <p:sldId id="285" r:id="rId10"/>
    <p:sldId id="269" r:id="rId11"/>
    <p:sldId id="286" r:id="rId13"/>
    <p:sldId id="271" r:id="rId14"/>
    <p:sldId id="25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8" userDrawn="1">
          <p15:clr>
            <a:srgbClr val="A4A3A4"/>
          </p15:clr>
        </p15:guide>
        <p15:guide id="2" orient="horz" pos="3779" userDrawn="1">
          <p15:clr>
            <a:srgbClr val="A4A3A4"/>
          </p15:clr>
        </p15:guide>
        <p15:guide id="3" pos="7269" userDrawn="1">
          <p15:clr>
            <a:srgbClr val="A4A3A4"/>
          </p15:clr>
        </p15:guide>
        <p15:guide id="4" orient="horz" pos="7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C678E"/>
    <a:srgbClr val="B0BFD5"/>
    <a:srgbClr val="E6E6E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3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92" y="114"/>
      </p:cViewPr>
      <p:guideLst>
        <p:guide pos="448"/>
        <p:guide orient="horz" pos="3779"/>
        <p:guide pos="7269"/>
        <p:guide orient="horz" pos="7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DC5DC-2188-4A8E-9B52-870867C2BE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43D81-2CE0-432F-B2E7-4DC1E7730B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https://www.ypppt.com/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43D81-2CE0-432F-B2E7-4DC1E7730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https://www.ypppt.com/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43D81-2CE0-432F-B2E7-4DC1E7730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prism isInverted="1"/>
      </p:transition>
    </mc:Choice>
    <mc:Fallback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prism isInverted="1"/>
      </p:transition>
    </mc:Choice>
    <mc:Fallback>
      <p:transition spd="slow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600" advTm="0">
        <p14:prism isInverted="1"/>
      </p:transition>
    </mc:Choice>
    <mc:Fallback>
      <p:transition spd="slow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0" y="-4677"/>
            <a:ext cx="12992100" cy="6862677"/>
            <a:chOff x="0" y="-4677"/>
            <a:chExt cx="12192000" cy="686267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8" t="10561" r="2412" b="26928"/>
            <a:stretch>
              <a:fillRect/>
            </a:stretch>
          </p:blipFill>
          <p:spPr>
            <a:xfrm>
              <a:off x="0" y="-4677"/>
              <a:ext cx="12192000" cy="6862677"/>
            </a:xfrm>
            <a:prstGeom prst="rect">
              <a:avLst/>
            </a:prstGeom>
          </p:spPr>
        </p:pic>
        <p:sp>
          <p:nvSpPr>
            <p:cNvPr id="11" name="任意多边形: 形状 10"/>
            <p:cNvSpPr/>
            <p:nvPr/>
          </p:nvSpPr>
          <p:spPr>
            <a:xfrm>
              <a:off x="1238911" y="147978"/>
              <a:ext cx="9434423" cy="4654525"/>
            </a:xfrm>
            <a:custGeom>
              <a:avLst/>
              <a:gdLst>
                <a:gd name="connsiteX0" fmla="*/ 132689 w 9434423"/>
                <a:gd name="connsiteY0" fmla="*/ 737847 h 4654525"/>
                <a:gd name="connsiteX1" fmla="*/ 180314 w 9434423"/>
                <a:gd name="connsiteY1" fmla="*/ 861672 h 4654525"/>
                <a:gd name="connsiteX2" fmla="*/ 1961489 w 9434423"/>
                <a:gd name="connsiteY2" fmla="*/ 3052422 h 4654525"/>
                <a:gd name="connsiteX3" fmla="*/ 3695039 w 9434423"/>
                <a:gd name="connsiteY3" fmla="*/ 3547722 h 4654525"/>
                <a:gd name="connsiteX4" fmla="*/ 6409664 w 9434423"/>
                <a:gd name="connsiteY4" fmla="*/ 3881097 h 4654525"/>
                <a:gd name="connsiteX5" fmla="*/ 6676364 w 9434423"/>
                <a:gd name="connsiteY5" fmla="*/ 3633447 h 4654525"/>
                <a:gd name="connsiteX6" fmla="*/ 8438489 w 9434423"/>
                <a:gd name="connsiteY6" fmla="*/ 4652622 h 4654525"/>
                <a:gd name="connsiteX7" fmla="*/ 9371939 w 9434423"/>
                <a:gd name="connsiteY7" fmla="*/ 3842997 h 4654525"/>
                <a:gd name="connsiteX8" fmla="*/ 9248114 w 9434423"/>
                <a:gd name="connsiteY8" fmla="*/ 2299947 h 4654525"/>
                <a:gd name="connsiteX9" fmla="*/ 8438489 w 9434423"/>
                <a:gd name="connsiteY9" fmla="*/ 1214097 h 4654525"/>
                <a:gd name="connsiteX10" fmla="*/ 6314414 w 9434423"/>
                <a:gd name="connsiteY10" fmla="*/ 194922 h 4654525"/>
                <a:gd name="connsiteX11" fmla="*/ 5761964 w 9434423"/>
                <a:gd name="connsiteY11" fmla="*/ 4422 h 4654525"/>
                <a:gd name="connsiteX12" fmla="*/ 4742789 w 9434423"/>
                <a:gd name="connsiteY12" fmla="*/ 271122 h 4654525"/>
                <a:gd name="connsiteX13" fmla="*/ 3866489 w 9434423"/>
                <a:gd name="connsiteY13" fmla="*/ 852147 h 4654525"/>
                <a:gd name="connsiteX14" fmla="*/ 2523464 w 9434423"/>
                <a:gd name="connsiteY14" fmla="*/ 623547 h 4654525"/>
                <a:gd name="connsiteX15" fmla="*/ 818489 w 9434423"/>
                <a:gd name="connsiteY15" fmla="*/ 480672 h 4654525"/>
                <a:gd name="connsiteX16" fmla="*/ 132689 w 9434423"/>
                <a:gd name="connsiteY16" fmla="*/ 737847 h 465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434423" h="4654525">
                  <a:moveTo>
                    <a:pt x="132689" y="737847"/>
                  </a:moveTo>
                  <a:cubicBezTo>
                    <a:pt x="26327" y="801347"/>
                    <a:pt x="-124486" y="475910"/>
                    <a:pt x="180314" y="861672"/>
                  </a:cubicBezTo>
                  <a:cubicBezTo>
                    <a:pt x="485114" y="1247434"/>
                    <a:pt x="1375702" y="2604747"/>
                    <a:pt x="1961489" y="3052422"/>
                  </a:cubicBezTo>
                  <a:cubicBezTo>
                    <a:pt x="2547277" y="3500097"/>
                    <a:pt x="2953677" y="3409610"/>
                    <a:pt x="3695039" y="3547722"/>
                  </a:cubicBezTo>
                  <a:cubicBezTo>
                    <a:pt x="4436401" y="3685834"/>
                    <a:pt x="5912777" y="3866810"/>
                    <a:pt x="6409664" y="3881097"/>
                  </a:cubicBezTo>
                  <a:cubicBezTo>
                    <a:pt x="6906552" y="3895385"/>
                    <a:pt x="6338226" y="3504859"/>
                    <a:pt x="6676364" y="3633447"/>
                  </a:cubicBezTo>
                  <a:cubicBezTo>
                    <a:pt x="7014502" y="3762035"/>
                    <a:pt x="7989227" y="4617697"/>
                    <a:pt x="8438489" y="4652622"/>
                  </a:cubicBezTo>
                  <a:cubicBezTo>
                    <a:pt x="8887751" y="4687547"/>
                    <a:pt x="9237001" y="4235110"/>
                    <a:pt x="9371939" y="3842997"/>
                  </a:cubicBezTo>
                  <a:cubicBezTo>
                    <a:pt x="9506877" y="3450884"/>
                    <a:pt x="9403689" y="2738097"/>
                    <a:pt x="9248114" y="2299947"/>
                  </a:cubicBezTo>
                  <a:cubicBezTo>
                    <a:pt x="9092539" y="1861797"/>
                    <a:pt x="8927439" y="1564935"/>
                    <a:pt x="8438489" y="1214097"/>
                  </a:cubicBezTo>
                  <a:cubicBezTo>
                    <a:pt x="7949539" y="863260"/>
                    <a:pt x="6760502" y="396535"/>
                    <a:pt x="6314414" y="194922"/>
                  </a:cubicBezTo>
                  <a:cubicBezTo>
                    <a:pt x="5868326" y="-6691"/>
                    <a:pt x="6023901" y="-8278"/>
                    <a:pt x="5761964" y="4422"/>
                  </a:cubicBezTo>
                  <a:cubicBezTo>
                    <a:pt x="5500027" y="17122"/>
                    <a:pt x="5058702" y="129834"/>
                    <a:pt x="4742789" y="271122"/>
                  </a:cubicBezTo>
                  <a:cubicBezTo>
                    <a:pt x="4426876" y="412410"/>
                    <a:pt x="4236377" y="793409"/>
                    <a:pt x="3866489" y="852147"/>
                  </a:cubicBezTo>
                  <a:cubicBezTo>
                    <a:pt x="3496601" y="910885"/>
                    <a:pt x="3031464" y="685459"/>
                    <a:pt x="2523464" y="623547"/>
                  </a:cubicBezTo>
                  <a:cubicBezTo>
                    <a:pt x="2015464" y="561634"/>
                    <a:pt x="1213776" y="466385"/>
                    <a:pt x="818489" y="480672"/>
                  </a:cubicBezTo>
                  <a:cubicBezTo>
                    <a:pt x="423202" y="494959"/>
                    <a:pt x="239051" y="674347"/>
                    <a:pt x="132689" y="7378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066925" y="2726329"/>
            <a:ext cx="80581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基于区块链的农产品溯源模版系统</a:t>
            </a:r>
            <a:endParaRPr lang="zh-CN" altLang="en-US" sz="32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39752" y="508992"/>
            <a:ext cx="5086350" cy="588645"/>
            <a:chOff x="706580" y="632385"/>
            <a:chExt cx="5086350" cy="588645"/>
          </a:xfrm>
        </p:grpSpPr>
        <p:sp>
          <p:nvSpPr>
            <p:cNvPr id="16" name="文本框 15"/>
            <p:cNvSpPr txBox="1"/>
            <p:nvPr/>
          </p:nvSpPr>
          <p:spPr>
            <a:xfrm>
              <a:off x="706580" y="632385"/>
              <a:ext cx="283457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spc="600" dirty="0">
                  <a:solidFill>
                    <a:srgbClr val="4C678E"/>
                  </a:solidFill>
                  <a:latin typeface="汉仪心海行楷W" panose="00020600040101010101" pitchFamily="18" charset="-122"/>
                  <a:ea typeface="汉仪心海行楷W" panose="00020600040101010101" pitchFamily="18" charset="-122"/>
                </a:rPr>
                <a:t>天津农学院</a:t>
              </a:r>
              <a:endParaRPr lang="zh-CN" altLang="en-US" sz="2400" spc="600" dirty="0">
                <a:solidFill>
                  <a:srgbClr val="4C678E"/>
                </a:solidFill>
                <a:latin typeface="汉仪心海行楷W" panose="00020600040101010101" pitchFamily="18" charset="-122"/>
                <a:ea typeface="汉仪心海行楷W" panose="00020600040101010101" pitchFamily="18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44680" y="991160"/>
              <a:ext cx="5048250" cy="22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TIAN JING AGRICULTURAL  UNIVERSITY </a:t>
              </a:r>
              <a:endParaRPr lang="zh-CN" altLang="en-US" sz="9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8" name="ísļîḓé"/>
          <p:cNvGrpSpPr/>
          <p:nvPr/>
        </p:nvGrpSpPr>
        <p:grpSpPr>
          <a:xfrm>
            <a:off x="452000" y="592577"/>
            <a:ext cx="519548" cy="519548"/>
            <a:chOff x="5683121" y="1558109"/>
            <a:chExt cx="673626" cy="673626"/>
          </a:xfrm>
        </p:grpSpPr>
        <p:sp>
          <p:nvSpPr>
            <p:cNvPr id="19" name="ïşļíḋê"/>
            <p:cNvSpPr/>
            <p:nvPr/>
          </p:nvSpPr>
          <p:spPr>
            <a:xfrm>
              <a:off x="5683121" y="1558109"/>
              <a:ext cx="673626" cy="67362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rgbClr val="4C678E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îśľîḍe"/>
            <p:cNvSpPr/>
            <p:nvPr/>
          </p:nvSpPr>
          <p:spPr bwMode="auto">
            <a:xfrm>
              <a:off x="5844363" y="1753151"/>
              <a:ext cx="351148" cy="283545"/>
            </a:xfrm>
            <a:custGeom>
              <a:avLst/>
              <a:gdLst>
                <a:gd name="connsiteX0" fmla="*/ 499361 w 608838"/>
                <a:gd name="connsiteY0" fmla="*/ 285654 h 491629"/>
                <a:gd name="connsiteX1" fmla="*/ 499361 w 608838"/>
                <a:gd name="connsiteY1" fmla="*/ 344437 h 491629"/>
                <a:gd name="connsiteX2" fmla="*/ 558245 w 608838"/>
                <a:gd name="connsiteY2" fmla="*/ 344437 h 491629"/>
                <a:gd name="connsiteX3" fmla="*/ 558245 w 608838"/>
                <a:gd name="connsiteY3" fmla="*/ 285654 h 491629"/>
                <a:gd name="connsiteX4" fmla="*/ 50593 w 608838"/>
                <a:gd name="connsiteY4" fmla="*/ 285654 h 491629"/>
                <a:gd name="connsiteX5" fmla="*/ 50593 w 608838"/>
                <a:gd name="connsiteY5" fmla="*/ 344437 h 491629"/>
                <a:gd name="connsiteX6" fmla="*/ 109477 w 608838"/>
                <a:gd name="connsiteY6" fmla="*/ 344437 h 491629"/>
                <a:gd name="connsiteX7" fmla="*/ 109477 w 608838"/>
                <a:gd name="connsiteY7" fmla="*/ 285654 h 491629"/>
                <a:gd name="connsiteX8" fmla="*/ 324062 w 608838"/>
                <a:gd name="connsiteY8" fmla="*/ 265425 h 491629"/>
                <a:gd name="connsiteX9" fmla="*/ 324062 w 608838"/>
                <a:gd name="connsiteY9" fmla="*/ 329947 h 491629"/>
                <a:gd name="connsiteX10" fmla="*/ 388693 w 608838"/>
                <a:gd name="connsiteY10" fmla="*/ 329947 h 491629"/>
                <a:gd name="connsiteX11" fmla="*/ 388693 w 608838"/>
                <a:gd name="connsiteY11" fmla="*/ 265425 h 491629"/>
                <a:gd name="connsiteX12" fmla="*/ 220144 w 608838"/>
                <a:gd name="connsiteY12" fmla="*/ 265425 h 491629"/>
                <a:gd name="connsiteX13" fmla="*/ 220144 w 608838"/>
                <a:gd name="connsiteY13" fmla="*/ 329947 h 491629"/>
                <a:gd name="connsiteX14" fmla="*/ 284775 w 608838"/>
                <a:gd name="connsiteY14" fmla="*/ 329947 h 491629"/>
                <a:gd name="connsiteX15" fmla="*/ 284775 w 608838"/>
                <a:gd name="connsiteY15" fmla="*/ 265425 h 491629"/>
                <a:gd name="connsiteX16" fmla="*/ 499361 w 608838"/>
                <a:gd name="connsiteY16" fmla="*/ 191225 h 491629"/>
                <a:gd name="connsiteX17" fmla="*/ 499361 w 608838"/>
                <a:gd name="connsiteY17" fmla="*/ 250008 h 491629"/>
                <a:gd name="connsiteX18" fmla="*/ 558245 w 608838"/>
                <a:gd name="connsiteY18" fmla="*/ 250008 h 491629"/>
                <a:gd name="connsiteX19" fmla="*/ 558245 w 608838"/>
                <a:gd name="connsiteY19" fmla="*/ 191225 h 491629"/>
                <a:gd name="connsiteX20" fmla="*/ 50593 w 608838"/>
                <a:gd name="connsiteY20" fmla="*/ 191225 h 491629"/>
                <a:gd name="connsiteX21" fmla="*/ 50593 w 608838"/>
                <a:gd name="connsiteY21" fmla="*/ 250008 h 491629"/>
                <a:gd name="connsiteX22" fmla="*/ 109477 w 608838"/>
                <a:gd name="connsiteY22" fmla="*/ 250008 h 491629"/>
                <a:gd name="connsiteX23" fmla="*/ 109477 w 608838"/>
                <a:gd name="connsiteY23" fmla="*/ 191225 h 491629"/>
                <a:gd name="connsiteX24" fmla="*/ 324062 w 608838"/>
                <a:gd name="connsiteY24" fmla="*/ 161682 h 491629"/>
                <a:gd name="connsiteX25" fmla="*/ 324062 w 608838"/>
                <a:gd name="connsiteY25" fmla="*/ 226204 h 491629"/>
                <a:gd name="connsiteX26" fmla="*/ 388693 w 608838"/>
                <a:gd name="connsiteY26" fmla="*/ 226204 h 491629"/>
                <a:gd name="connsiteX27" fmla="*/ 388693 w 608838"/>
                <a:gd name="connsiteY27" fmla="*/ 161682 h 491629"/>
                <a:gd name="connsiteX28" fmla="*/ 220144 w 608838"/>
                <a:gd name="connsiteY28" fmla="*/ 161682 h 491629"/>
                <a:gd name="connsiteX29" fmla="*/ 220144 w 608838"/>
                <a:gd name="connsiteY29" fmla="*/ 226204 h 491629"/>
                <a:gd name="connsiteX30" fmla="*/ 284775 w 608838"/>
                <a:gd name="connsiteY30" fmla="*/ 226204 h 491629"/>
                <a:gd name="connsiteX31" fmla="*/ 284775 w 608838"/>
                <a:gd name="connsiteY31" fmla="*/ 161682 h 491629"/>
                <a:gd name="connsiteX32" fmla="*/ 499361 w 608838"/>
                <a:gd name="connsiteY32" fmla="*/ 96797 h 491629"/>
                <a:gd name="connsiteX33" fmla="*/ 499361 w 608838"/>
                <a:gd name="connsiteY33" fmla="*/ 155579 h 491629"/>
                <a:gd name="connsiteX34" fmla="*/ 558245 w 608838"/>
                <a:gd name="connsiteY34" fmla="*/ 155579 h 491629"/>
                <a:gd name="connsiteX35" fmla="*/ 558245 w 608838"/>
                <a:gd name="connsiteY35" fmla="*/ 96797 h 491629"/>
                <a:gd name="connsiteX36" fmla="*/ 50593 w 608838"/>
                <a:gd name="connsiteY36" fmla="*/ 96797 h 491629"/>
                <a:gd name="connsiteX37" fmla="*/ 50593 w 608838"/>
                <a:gd name="connsiteY37" fmla="*/ 155579 h 491629"/>
                <a:gd name="connsiteX38" fmla="*/ 109477 w 608838"/>
                <a:gd name="connsiteY38" fmla="*/ 155579 h 491629"/>
                <a:gd name="connsiteX39" fmla="*/ 109477 w 608838"/>
                <a:gd name="connsiteY39" fmla="*/ 96797 h 491629"/>
                <a:gd name="connsiteX40" fmla="*/ 324062 w 608838"/>
                <a:gd name="connsiteY40" fmla="*/ 57938 h 491629"/>
                <a:gd name="connsiteX41" fmla="*/ 324062 w 608838"/>
                <a:gd name="connsiteY41" fmla="*/ 122461 h 491629"/>
                <a:gd name="connsiteX42" fmla="*/ 388693 w 608838"/>
                <a:gd name="connsiteY42" fmla="*/ 122461 h 491629"/>
                <a:gd name="connsiteX43" fmla="*/ 388693 w 608838"/>
                <a:gd name="connsiteY43" fmla="*/ 57938 h 491629"/>
                <a:gd name="connsiteX44" fmla="*/ 220144 w 608838"/>
                <a:gd name="connsiteY44" fmla="*/ 57938 h 491629"/>
                <a:gd name="connsiteX45" fmla="*/ 220144 w 608838"/>
                <a:gd name="connsiteY45" fmla="*/ 122461 h 491629"/>
                <a:gd name="connsiteX46" fmla="*/ 284775 w 608838"/>
                <a:gd name="connsiteY46" fmla="*/ 122461 h 491629"/>
                <a:gd name="connsiteX47" fmla="*/ 284775 w 608838"/>
                <a:gd name="connsiteY47" fmla="*/ 57938 h 491629"/>
                <a:gd name="connsiteX48" fmla="*/ 469401 w 608838"/>
                <a:gd name="connsiteY48" fmla="*/ 44033 h 491629"/>
                <a:gd name="connsiteX49" fmla="*/ 608838 w 608838"/>
                <a:gd name="connsiteY49" fmla="*/ 44033 h 491629"/>
                <a:gd name="connsiteX50" fmla="*/ 608838 w 608838"/>
                <a:gd name="connsiteY50" fmla="*/ 491629 h 491629"/>
                <a:gd name="connsiteX51" fmla="*/ 510950 w 608838"/>
                <a:gd name="connsiteY51" fmla="*/ 491629 h 491629"/>
                <a:gd name="connsiteX52" fmla="*/ 510950 w 608838"/>
                <a:gd name="connsiteY52" fmla="*/ 391651 h 491629"/>
                <a:gd name="connsiteX53" fmla="*/ 469401 w 608838"/>
                <a:gd name="connsiteY53" fmla="*/ 391651 h 491629"/>
                <a:gd name="connsiteX54" fmla="*/ 0 w 608838"/>
                <a:gd name="connsiteY54" fmla="*/ 44033 h 491629"/>
                <a:gd name="connsiteX55" fmla="*/ 139437 w 608838"/>
                <a:gd name="connsiteY55" fmla="*/ 44033 h 491629"/>
                <a:gd name="connsiteX56" fmla="*/ 139437 w 608838"/>
                <a:gd name="connsiteY56" fmla="*/ 391651 h 491629"/>
                <a:gd name="connsiteX57" fmla="*/ 97889 w 608838"/>
                <a:gd name="connsiteY57" fmla="*/ 391651 h 491629"/>
                <a:gd name="connsiteX58" fmla="*/ 97889 w 608838"/>
                <a:gd name="connsiteY58" fmla="*/ 491629 h 491629"/>
                <a:gd name="connsiteX59" fmla="*/ 0 w 608838"/>
                <a:gd name="connsiteY59" fmla="*/ 491629 h 491629"/>
                <a:gd name="connsiteX60" fmla="*/ 164558 w 608838"/>
                <a:gd name="connsiteY60" fmla="*/ 0 h 491629"/>
                <a:gd name="connsiteX61" fmla="*/ 444279 w 608838"/>
                <a:gd name="connsiteY61" fmla="*/ 0 h 491629"/>
                <a:gd name="connsiteX62" fmla="*/ 444279 w 608838"/>
                <a:gd name="connsiteY62" fmla="*/ 491629 h 491629"/>
                <a:gd name="connsiteX63" fmla="*/ 336781 w 608838"/>
                <a:gd name="connsiteY63" fmla="*/ 491629 h 491629"/>
                <a:gd name="connsiteX64" fmla="*/ 336781 w 608838"/>
                <a:gd name="connsiteY64" fmla="*/ 381866 h 491629"/>
                <a:gd name="connsiteX65" fmla="*/ 272056 w 608838"/>
                <a:gd name="connsiteY65" fmla="*/ 381866 h 491629"/>
                <a:gd name="connsiteX66" fmla="*/ 272056 w 608838"/>
                <a:gd name="connsiteY66" fmla="*/ 491629 h 491629"/>
                <a:gd name="connsiteX67" fmla="*/ 164558 w 608838"/>
                <a:gd name="connsiteY67" fmla="*/ 491629 h 49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8838" h="491629">
                  <a:moveTo>
                    <a:pt x="499361" y="285654"/>
                  </a:moveTo>
                  <a:lnTo>
                    <a:pt x="499361" y="344437"/>
                  </a:lnTo>
                  <a:lnTo>
                    <a:pt x="558245" y="344437"/>
                  </a:lnTo>
                  <a:lnTo>
                    <a:pt x="558245" y="285654"/>
                  </a:lnTo>
                  <a:close/>
                  <a:moveTo>
                    <a:pt x="50593" y="285654"/>
                  </a:moveTo>
                  <a:lnTo>
                    <a:pt x="50593" y="344437"/>
                  </a:lnTo>
                  <a:lnTo>
                    <a:pt x="109477" y="344437"/>
                  </a:lnTo>
                  <a:lnTo>
                    <a:pt x="109477" y="285654"/>
                  </a:lnTo>
                  <a:close/>
                  <a:moveTo>
                    <a:pt x="324062" y="265425"/>
                  </a:moveTo>
                  <a:lnTo>
                    <a:pt x="324062" y="329947"/>
                  </a:lnTo>
                  <a:lnTo>
                    <a:pt x="388693" y="329947"/>
                  </a:lnTo>
                  <a:lnTo>
                    <a:pt x="388693" y="265425"/>
                  </a:lnTo>
                  <a:close/>
                  <a:moveTo>
                    <a:pt x="220144" y="265425"/>
                  </a:moveTo>
                  <a:lnTo>
                    <a:pt x="220144" y="329947"/>
                  </a:lnTo>
                  <a:lnTo>
                    <a:pt x="284775" y="329947"/>
                  </a:lnTo>
                  <a:lnTo>
                    <a:pt x="284775" y="265425"/>
                  </a:lnTo>
                  <a:close/>
                  <a:moveTo>
                    <a:pt x="499361" y="191225"/>
                  </a:moveTo>
                  <a:lnTo>
                    <a:pt x="499361" y="250008"/>
                  </a:lnTo>
                  <a:lnTo>
                    <a:pt x="558245" y="250008"/>
                  </a:lnTo>
                  <a:lnTo>
                    <a:pt x="558245" y="191225"/>
                  </a:lnTo>
                  <a:close/>
                  <a:moveTo>
                    <a:pt x="50593" y="191225"/>
                  </a:moveTo>
                  <a:lnTo>
                    <a:pt x="50593" y="250008"/>
                  </a:lnTo>
                  <a:lnTo>
                    <a:pt x="109477" y="250008"/>
                  </a:lnTo>
                  <a:lnTo>
                    <a:pt x="109477" y="191225"/>
                  </a:lnTo>
                  <a:close/>
                  <a:moveTo>
                    <a:pt x="324062" y="161682"/>
                  </a:moveTo>
                  <a:lnTo>
                    <a:pt x="324062" y="226204"/>
                  </a:lnTo>
                  <a:lnTo>
                    <a:pt x="388693" y="226204"/>
                  </a:lnTo>
                  <a:lnTo>
                    <a:pt x="388693" y="161682"/>
                  </a:lnTo>
                  <a:close/>
                  <a:moveTo>
                    <a:pt x="220144" y="161682"/>
                  </a:moveTo>
                  <a:lnTo>
                    <a:pt x="220144" y="226204"/>
                  </a:lnTo>
                  <a:lnTo>
                    <a:pt x="284775" y="226204"/>
                  </a:lnTo>
                  <a:lnTo>
                    <a:pt x="284775" y="161682"/>
                  </a:lnTo>
                  <a:close/>
                  <a:moveTo>
                    <a:pt x="499361" y="96797"/>
                  </a:moveTo>
                  <a:lnTo>
                    <a:pt x="499361" y="155579"/>
                  </a:lnTo>
                  <a:lnTo>
                    <a:pt x="558245" y="155579"/>
                  </a:lnTo>
                  <a:lnTo>
                    <a:pt x="558245" y="96797"/>
                  </a:lnTo>
                  <a:close/>
                  <a:moveTo>
                    <a:pt x="50593" y="96797"/>
                  </a:moveTo>
                  <a:lnTo>
                    <a:pt x="50593" y="155579"/>
                  </a:lnTo>
                  <a:lnTo>
                    <a:pt x="109477" y="155579"/>
                  </a:lnTo>
                  <a:lnTo>
                    <a:pt x="109477" y="96797"/>
                  </a:lnTo>
                  <a:close/>
                  <a:moveTo>
                    <a:pt x="324062" y="57938"/>
                  </a:moveTo>
                  <a:lnTo>
                    <a:pt x="324062" y="122461"/>
                  </a:lnTo>
                  <a:lnTo>
                    <a:pt x="388693" y="122461"/>
                  </a:lnTo>
                  <a:lnTo>
                    <a:pt x="388693" y="57938"/>
                  </a:lnTo>
                  <a:close/>
                  <a:moveTo>
                    <a:pt x="220144" y="57938"/>
                  </a:moveTo>
                  <a:lnTo>
                    <a:pt x="220144" y="122461"/>
                  </a:lnTo>
                  <a:lnTo>
                    <a:pt x="284775" y="122461"/>
                  </a:lnTo>
                  <a:lnTo>
                    <a:pt x="284775" y="57938"/>
                  </a:lnTo>
                  <a:close/>
                  <a:moveTo>
                    <a:pt x="469401" y="44033"/>
                  </a:moveTo>
                  <a:lnTo>
                    <a:pt x="608838" y="44033"/>
                  </a:lnTo>
                  <a:lnTo>
                    <a:pt x="608838" y="491629"/>
                  </a:lnTo>
                  <a:lnTo>
                    <a:pt x="510950" y="491629"/>
                  </a:lnTo>
                  <a:lnTo>
                    <a:pt x="510950" y="391651"/>
                  </a:lnTo>
                  <a:lnTo>
                    <a:pt x="469401" y="391651"/>
                  </a:lnTo>
                  <a:close/>
                  <a:moveTo>
                    <a:pt x="0" y="44033"/>
                  </a:moveTo>
                  <a:lnTo>
                    <a:pt x="139437" y="44033"/>
                  </a:lnTo>
                  <a:lnTo>
                    <a:pt x="139437" y="391651"/>
                  </a:lnTo>
                  <a:lnTo>
                    <a:pt x="97889" y="391651"/>
                  </a:lnTo>
                  <a:lnTo>
                    <a:pt x="97889" y="491629"/>
                  </a:lnTo>
                  <a:lnTo>
                    <a:pt x="0" y="491629"/>
                  </a:lnTo>
                  <a:close/>
                  <a:moveTo>
                    <a:pt x="164558" y="0"/>
                  </a:moveTo>
                  <a:lnTo>
                    <a:pt x="444279" y="0"/>
                  </a:lnTo>
                  <a:lnTo>
                    <a:pt x="444279" y="491629"/>
                  </a:lnTo>
                  <a:lnTo>
                    <a:pt x="336781" y="491629"/>
                  </a:lnTo>
                  <a:lnTo>
                    <a:pt x="336781" y="381866"/>
                  </a:lnTo>
                  <a:lnTo>
                    <a:pt x="272056" y="381866"/>
                  </a:lnTo>
                  <a:lnTo>
                    <a:pt x="272056" y="491629"/>
                  </a:lnTo>
                  <a:lnTo>
                    <a:pt x="164558" y="4916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147464" y="1866213"/>
            <a:ext cx="3897072" cy="829945"/>
            <a:chOff x="4147464" y="1866213"/>
            <a:chExt cx="3897072" cy="829945"/>
          </a:xfrm>
        </p:grpSpPr>
        <p:sp>
          <p:nvSpPr>
            <p:cNvPr id="14" name="文本框 13"/>
            <p:cNvSpPr txBox="1"/>
            <p:nvPr/>
          </p:nvSpPr>
          <p:spPr>
            <a:xfrm>
              <a:off x="5133975" y="1866213"/>
              <a:ext cx="192405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4C678E"/>
                  </a:solidFill>
                  <a:latin typeface="汉仪铁线黑-65简" panose="00020600040101010101" pitchFamily="18" charset="-122"/>
                  <a:ea typeface="汉仪铁线黑-65简" panose="00020600040101010101" pitchFamily="18" charset="-122"/>
                </a:rPr>
                <a:t>2026</a:t>
              </a:r>
              <a:endParaRPr lang="zh-CN" altLang="en-US" sz="4800" b="1" dirty="0">
                <a:solidFill>
                  <a:srgbClr val="4C678E"/>
                </a:solidFill>
                <a:latin typeface="汉仪铁线黑-65简" panose="00020600040101010101" pitchFamily="18" charset="-122"/>
                <a:ea typeface="汉仪铁线黑-65简" panose="00020600040101010101" pitchFamily="18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147464" y="2311239"/>
              <a:ext cx="3897072" cy="0"/>
              <a:chOff x="4257678" y="2482689"/>
              <a:chExt cx="3897072" cy="0"/>
            </a:xfrm>
          </p:grpSpPr>
          <p:cxnSp>
            <p:nvCxnSpPr>
              <p:cNvPr id="21" name="直接箭头连接符 25"/>
              <p:cNvCxnSpPr/>
              <p:nvPr/>
            </p:nvCxnSpPr>
            <p:spPr>
              <a:xfrm>
                <a:off x="4257678" y="2482689"/>
                <a:ext cx="820497" cy="0"/>
              </a:xfrm>
              <a:prstGeom prst="straightConnector1">
                <a:avLst/>
              </a:prstGeom>
              <a:ln>
                <a:gradFill>
                  <a:gsLst>
                    <a:gs pos="100000">
                      <a:srgbClr val="4C678E">
                        <a:alpha val="0"/>
                      </a:srgbClr>
                    </a:gs>
                    <a:gs pos="0">
                      <a:srgbClr val="4C678E"/>
                    </a:gs>
                  </a:gsLst>
                  <a:lin ang="10800000" scaled="0"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5"/>
              <p:cNvCxnSpPr/>
              <p:nvPr/>
            </p:nvCxnSpPr>
            <p:spPr>
              <a:xfrm flipH="1">
                <a:off x="7334253" y="2482689"/>
                <a:ext cx="820497" cy="0"/>
              </a:xfrm>
              <a:prstGeom prst="straightConnector1">
                <a:avLst/>
              </a:prstGeom>
              <a:ln>
                <a:gradFill>
                  <a:gsLst>
                    <a:gs pos="100000">
                      <a:srgbClr val="4C678E">
                        <a:alpha val="0"/>
                      </a:srgbClr>
                    </a:gs>
                    <a:gs pos="0">
                      <a:srgbClr val="4C678E"/>
                    </a:gs>
                  </a:gsLst>
                  <a:lin ang="10800000" scaled="0"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矩形: 圆角 28"/>
          <p:cNvSpPr/>
          <p:nvPr/>
        </p:nvSpPr>
        <p:spPr>
          <a:xfrm>
            <a:off x="4329430" y="5276215"/>
            <a:ext cx="1696720" cy="347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4C67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答辩人：</a:t>
            </a:r>
            <a:endParaRPr lang="en-US" altLang="zh-CN" sz="1400" dirty="0" smtClean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6165850" y="5276215"/>
            <a:ext cx="2107565" cy="347345"/>
          </a:xfrm>
          <a:prstGeom prst="roundRect">
            <a:avLst>
              <a:gd name="adj" fmla="val 50000"/>
            </a:avLst>
          </a:prstGeom>
          <a:solidFill>
            <a:srgbClr val="4C678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时间：</a:t>
            </a:r>
            <a:r>
              <a:rPr lang="en-US" altLang="zh-CN" sz="1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2026</a:t>
            </a:r>
            <a:r>
              <a:rPr lang="zh-CN" altLang="en-US" sz="1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年</a:t>
            </a:r>
            <a:r>
              <a:rPr lang="en-US" altLang="zh-CN" sz="1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月</a:t>
            </a:r>
            <a:r>
              <a:rPr lang="en-US" altLang="zh-CN" sz="1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20</a:t>
            </a:r>
            <a:r>
              <a:rPr lang="zh-CN" altLang="en-US" sz="1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日</a:t>
            </a:r>
            <a:endParaRPr lang="zh-CN" altLang="en-US" sz="14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490720" y="3818255"/>
            <a:ext cx="3067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pc="600" dirty="0">
                <a:solidFill>
                  <a:srgbClr val="4C678E"/>
                </a:solidFill>
                <a:latin typeface="+mn-ea"/>
              </a:rPr>
              <a:t>计算机院软件工程</a:t>
            </a:r>
            <a:endParaRPr lang="zh-CN" altLang="en-US" spc="600" dirty="0">
              <a:solidFill>
                <a:srgbClr val="4C678E"/>
              </a:solidFill>
              <a:latin typeface="+mn-ea"/>
            </a:endParaRPr>
          </a:p>
        </p:txBody>
      </p:sp>
      <p:sp>
        <p:nvSpPr>
          <p:cNvPr id="10" name="矩形: 圆角 28"/>
          <p:cNvSpPr/>
          <p:nvPr/>
        </p:nvSpPr>
        <p:spPr>
          <a:xfrm>
            <a:off x="4730750" y="4326890"/>
            <a:ext cx="2827020" cy="347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4C67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指导老师：</a:t>
            </a:r>
            <a:endParaRPr lang="zh-CN" altLang="en-US" sz="14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29" y="3784600"/>
            <a:ext cx="12193057" cy="3073696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5277757" y="13166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目录</a:t>
            </a:r>
            <a:endParaRPr lang="zh-CN" altLang="en-US" sz="54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9" name="ïşļíḋê"/>
          <p:cNvSpPr/>
          <p:nvPr>
            <p:custDataLst>
              <p:tags r:id="rId2"/>
            </p:custDataLst>
          </p:nvPr>
        </p:nvSpPr>
        <p:spPr>
          <a:xfrm>
            <a:off x="1068338" y="2657598"/>
            <a:ext cx="627605" cy="627605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C678E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ïşļíḋê"/>
          <p:cNvSpPr/>
          <p:nvPr>
            <p:custDataLst>
              <p:tags r:id="rId3"/>
            </p:custDataLst>
          </p:nvPr>
        </p:nvSpPr>
        <p:spPr>
          <a:xfrm>
            <a:off x="3232604" y="2657598"/>
            <a:ext cx="627605" cy="627605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C678E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ïşļíḋê"/>
          <p:cNvSpPr/>
          <p:nvPr>
            <p:custDataLst>
              <p:tags r:id="rId4"/>
            </p:custDataLst>
          </p:nvPr>
        </p:nvSpPr>
        <p:spPr>
          <a:xfrm>
            <a:off x="5396869" y="2657598"/>
            <a:ext cx="627605" cy="627605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C678E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ïşļíḋê"/>
          <p:cNvSpPr/>
          <p:nvPr>
            <p:custDataLst>
              <p:tags r:id="rId5"/>
            </p:custDataLst>
          </p:nvPr>
        </p:nvSpPr>
        <p:spPr>
          <a:xfrm>
            <a:off x="7561133" y="2657598"/>
            <a:ext cx="627605" cy="627605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C678E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6"/>
            </p:custDataLst>
          </p:nvPr>
        </p:nvCxnSpPr>
        <p:spPr>
          <a:xfrm>
            <a:off x="2530327" y="2982128"/>
            <a:ext cx="0" cy="17951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7"/>
            </p:custDataLst>
          </p:nvPr>
        </p:nvCxnSpPr>
        <p:spPr>
          <a:xfrm>
            <a:off x="4651851" y="2982128"/>
            <a:ext cx="0" cy="17951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8"/>
            </p:custDataLst>
          </p:nvPr>
        </p:nvCxnSpPr>
        <p:spPr>
          <a:xfrm>
            <a:off x="6773375" y="2982128"/>
            <a:ext cx="0" cy="17951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>
            <p:custDataLst>
              <p:tags r:id="rId9"/>
            </p:custDataLst>
          </p:nvPr>
        </p:nvSpPr>
        <p:spPr>
          <a:xfrm>
            <a:off x="350520" y="3409598"/>
            <a:ext cx="193501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选题背景和选题目的</a:t>
            </a:r>
            <a:endParaRPr lang="zh-CN" altLang="en-US" sz="32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0"/>
            </p:custDataLst>
          </p:nvPr>
        </p:nvSpPr>
        <p:spPr>
          <a:xfrm>
            <a:off x="2545869" y="3409598"/>
            <a:ext cx="193501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研究内容</a:t>
            </a:r>
            <a:endParaRPr lang="zh-CN" altLang="en-US" sz="32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4741219" y="3409598"/>
            <a:ext cx="193501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+mn-ea"/>
              </a:rPr>
              <a:t>项目模块示意图</a:t>
            </a:r>
            <a:endParaRPr lang="zh-CN" altLang="en-US" sz="32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2"/>
            </p:custDataLst>
          </p:nvPr>
        </p:nvSpPr>
        <p:spPr>
          <a:xfrm>
            <a:off x="6936569" y="3409598"/>
            <a:ext cx="193501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技术路线和创新点</a:t>
            </a:r>
            <a:endParaRPr lang="zh-CN" altLang="en-US" sz="32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47652" y="801092"/>
            <a:ext cx="2834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spc="600" dirty="0">
                <a:solidFill>
                  <a:srgbClr val="4C678E"/>
                </a:solidFill>
                <a:latin typeface="汉仪心海行楷W" panose="00020600040101010101" pitchFamily="18" charset="-122"/>
                <a:ea typeface="汉仪心海行楷W" panose="00020600040101010101" pitchFamily="18" charset="-122"/>
              </a:rPr>
              <a:t>天津农学院</a:t>
            </a:r>
            <a:endParaRPr lang="zh-CN" sz="2400" spc="600" dirty="0">
              <a:solidFill>
                <a:srgbClr val="4C678E"/>
              </a:solidFill>
              <a:latin typeface="汉仪心海行楷W" panose="00020600040101010101" pitchFamily="18" charset="-122"/>
              <a:ea typeface="汉仪心海行楷W" panose="00020600040101010101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16873" y="399495"/>
            <a:ext cx="3373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https://www.ypppt.com/</a:t>
            </a:r>
            <a:endParaRPr lang="zh-CN" altLang="en-US" dirty="0">
              <a:solidFill>
                <a:srgbClr val="FFFFFF"/>
              </a:solidFill>
            </a:endParaRPr>
          </a:p>
        </p:txBody>
      </p:sp>
      <p:cxnSp>
        <p:nvCxnSpPr>
          <p:cNvPr id="10" name="直接连接符 9"/>
          <p:cNvCxnSpPr/>
          <p:nvPr>
            <p:custDataLst>
              <p:tags r:id="rId13"/>
            </p:custDataLst>
          </p:nvPr>
        </p:nvCxnSpPr>
        <p:spPr>
          <a:xfrm>
            <a:off x="8755210" y="2872273"/>
            <a:ext cx="0" cy="17951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ïşļíḋê"/>
          <p:cNvSpPr/>
          <p:nvPr>
            <p:custDataLst>
              <p:tags r:id="rId14"/>
            </p:custDataLst>
          </p:nvPr>
        </p:nvSpPr>
        <p:spPr>
          <a:xfrm>
            <a:off x="9687113" y="2658233"/>
            <a:ext cx="627605" cy="627605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C678E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8894445" y="3409315"/>
            <a:ext cx="23577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进度安排</a:t>
            </a:r>
            <a:endParaRPr lang="zh-CN" altLang="en-US" sz="32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4718957" y="541929"/>
            <a:ext cx="275408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+mn-ea"/>
              </a:rPr>
              <a:t>选题背景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7772400" y="1689100"/>
            <a:ext cx="3302000" cy="2971800"/>
          </a:xfrm>
          <a:prstGeom prst="rect">
            <a:avLst/>
          </a:prstGeom>
          <a:solidFill>
            <a:srgbClr val="4C67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587375" y="1689100"/>
            <a:ext cx="5661025" cy="4330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 hangingPunct="0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区块链技术在农产品溯源领域的应用最早起源于欧美发达国家。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其中法国家乐福从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2018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年开始应用区块链追溯鸡肉等产品。澳大利亚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BeefLedger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项目利用区块链为出口牛肉提供数字身份证明等。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通过智能传感器自动采集数据并上链，减少人为干预。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在国内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2020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年农业农村部发布《数字农业农村发展规划》，明确提出推进区块链技术在农产品溯源中的应用。之后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阿里巴巴蚂蚁链已为五常大米等数百种商品提供溯源服务；京东智臻链追溯数据达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13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亿条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。期间国内呈现多元化发展，联盟链占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60%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市场份额，公链和混合链并行发展。其中国内更注重移动端应用创新，通过微信小程序等方式降低使用门槛。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5830" y="2193290"/>
            <a:ext cx="3198495" cy="3324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>
            <p:custDataLst>
              <p:tags r:id="rId1"/>
            </p:custDataLst>
          </p:nvPr>
        </p:nvSpPr>
        <p:spPr>
          <a:xfrm>
            <a:off x="1250950" y="2463800"/>
            <a:ext cx="2857500" cy="2971800"/>
          </a:xfrm>
          <a:prstGeom prst="roundRect">
            <a:avLst>
              <a:gd name="adj" fmla="val 4667"/>
            </a:avLst>
          </a:prstGeom>
          <a:solidFill>
            <a:schemeClr val="bg1">
              <a:lumMod val="95000"/>
              <a:alpha val="44000"/>
            </a:schemeClr>
          </a:solidFill>
          <a:ln>
            <a:gradFill>
              <a:gsLst>
                <a:gs pos="0">
                  <a:srgbClr val="4C678E"/>
                </a:gs>
                <a:gs pos="100000">
                  <a:srgbClr val="4C678E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>
            <a:off x="4667250" y="2463800"/>
            <a:ext cx="2857500" cy="2971800"/>
          </a:xfrm>
          <a:prstGeom prst="roundRect">
            <a:avLst>
              <a:gd name="adj" fmla="val 4667"/>
            </a:avLst>
          </a:prstGeom>
          <a:solidFill>
            <a:schemeClr val="bg1">
              <a:lumMod val="95000"/>
              <a:alpha val="44000"/>
            </a:schemeClr>
          </a:solidFill>
          <a:ln>
            <a:gradFill>
              <a:gsLst>
                <a:gs pos="0">
                  <a:srgbClr val="4C678E"/>
                </a:gs>
                <a:gs pos="100000">
                  <a:srgbClr val="4C678E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>
            <p:custDataLst>
              <p:tags r:id="rId3"/>
            </p:custDataLst>
          </p:nvPr>
        </p:nvSpPr>
        <p:spPr>
          <a:xfrm>
            <a:off x="8083550" y="2463800"/>
            <a:ext cx="2857500" cy="2971800"/>
          </a:xfrm>
          <a:prstGeom prst="roundRect">
            <a:avLst>
              <a:gd name="adj" fmla="val 4667"/>
            </a:avLst>
          </a:prstGeom>
          <a:solidFill>
            <a:schemeClr val="bg1">
              <a:lumMod val="95000"/>
              <a:alpha val="44000"/>
            </a:schemeClr>
          </a:solidFill>
          <a:ln>
            <a:gradFill>
              <a:gsLst>
                <a:gs pos="0">
                  <a:srgbClr val="4C678E"/>
                </a:gs>
                <a:gs pos="100000">
                  <a:srgbClr val="4C678E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4718957" y="541929"/>
            <a:ext cx="275408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选题目的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2298700" y="2057400"/>
            <a:ext cx="774700" cy="774700"/>
          </a:xfrm>
          <a:prstGeom prst="ellipse">
            <a:avLst/>
          </a:prstGeom>
          <a:solidFill>
            <a:srgbClr val="4C678E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01</a:t>
            </a:r>
            <a:endParaRPr lang="zh-CN" altLang="en-US" sz="2400" b="1" dirty="0">
              <a:solidFill>
                <a:schemeClr val="bg1"/>
              </a:solidFill>
              <a:cs typeface="+mn-ea"/>
            </a:endParaRPr>
          </a:p>
        </p:txBody>
      </p:sp>
      <p:sp>
        <p:nvSpPr>
          <p:cNvPr id="20" name="椭圆 19"/>
          <p:cNvSpPr/>
          <p:nvPr>
            <p:custDataLst>
              <p:tags r:id="rId5"/>
            </p:custDataLst>
          </p:nvPr>
        </p:nvSpPr>
        <p:spPr>
          <a:xfrm>
            <a:off x="5708650" y="2057400"/>
            <a:ext cx="774700" cy="774700"/>
          </a:xfrm>
          <a:prstGeom prst="ellipse">
            <a:avLst/>
          </a:prstGeom>
          <a:solidFill>
            <a:srgbClr val="4C678E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02</a:t>
            </a:r>
            <a:endParaRPr lang="zh-CN" altLang="en-US" sz="2400" b="1" dirty="0">
              <a:solidFill>
                <a:schemeClr val="bg1"/>
              </a:solidFill>
              <a:cs typeface="+mn-ea"/>
            </a:endParaRPr>
          </a:p>
        </p:txBody>
      </p:sp>
      <p:sp>
        <p:nvSpPr>
          <p:cNvPr id="23" name="椭圆 22"/>
          <p:cNvSpPr/>
          <p:nvPr>
            <p:custDataLst>
              <p:tags r:id="rId6"/>
            </p:custDataLst>
          </p:nvPr>
        </p:nvSpPr>
        <p:spPr>
          <a:xfrm>
            <a:off x="9118600" y="2057400"/>
            <a:ext cx="774700" cy="774700"/>
          </a:xfrm>
          <a:prstGeom prst="ellipse">
            <a:avLst/>
          </a:prstGeom>
          <a:solidFill>
            <a:srgbClr val="4C678E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03</a:t>
            </a:r>
            <a:endParaRPr lang="zh-CN" altLang="en-US" sz="2400" b="1" dirty="0">
              <a:solidFill>
                <a:schemeClr val="bg1"/>
              </a:solidFill>
              <a:cs typeface="+mn-ea"/>
            </a:endParaRPr>
          </a:p>
        </p:txBody>
      </p:sp>
      <p:sp>
        <p:nvSpPr>
          <p:cNvPr id="28" name="矩形 27"/>
          <p:cNvSpPr/>
          <p:nvPr>
            <p:custDataLst>
              <p:tags r:id="rId7"/>
            </p:custDataLst>
          </p:nvPr>
        </p:nvSpPr>
        <p:spPr>
          <a:xfrm>
            <a:off x="1358900" y="3225800"/>
            <a:ext cx="2641600" cy="1477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设计管理端、企业端（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PC+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小程序）、用户端（小程序）。实现数据采集、上链存证、查询验证的闭环。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8"/>
            </p:custDataLst>
          </p:nvPr>
        </p:nvSpPr>
        <p:spPr>
          <a:xfrm>
            <a:off x="4764405" y="3225800"/>
            <a:ext cx="2740025" cy="1477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通过全流程数字化记录（从种植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养殖初始化到销售端），实现农产品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"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来源可查、去向可追、责任可究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"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lt"/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lt"/>
            </a:endParaRPr>
          </a:p>
        </p:txBody>
      </p:sp>
      <p:sp>
        <p:nvSpPr>
          <p:cNvPr id="32" name="矩形 31"/>
          <p:cNvSpPr/>
          <p:nvPr>
            <p:custDataLst>
              <p:tags r:id="rId9"/>
            </p:custDataLst>
          </p:nvPr>
        </p:nvSpPr>
        <p:spPr>
          <a:xfrm>
            <a:off x="8267700" y="3225800"/>
            <a:ext cx="257619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消费者提供透明、可验证的溯源信息查询渠道，扫码即可查看产品完整生产流程。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0"/>
            </p:custDataLst>
          </p:nvPr>
        </p:nvGrpSpPr>
        <p:grpSpPr>
          <a:xfrm>
            <a:off x="4279900" y="3162300"/>
            <a:ext cx="279400" cy="1003300"/>
            <a:chOff x="863600" y="3403600"/>
            <a:chExt cx="203200" cy="1460500"/>
          </a:xfrm>
        </p:grpSpPr>
        <p:cxnSp>
          <p:nvCxnSpPr>
            <p:cNvPr id="42" name="直接连接符 41"/>
            <p:cNvCxnSpPr/>
            <p:nvPr>
              <p:custDataLst>
                <p:tags r:id="rId11"/>
              </p:custDataLst>
            </p:nvPr>
          </p:nvCxnSpPr>
          <p:spPr>
            <a:xfrm>
              <a:off x="990600" y="3403600"/>
              <a:ext cx="0" cy="406400"/>
            </a:xfrm>
            <a:prstGeom prst="line">
              <a:avLst/>
            </a:prstGeom>
            <a:solidFill>
              <a:schemeClr val="bg1">
                <a:lumMod val="95000"/>
                <a:alpha val="44000"/>
              </a:schemeClr>
            </a:solidFill>
            <a:ln>
              <a:gradFill>
                <a:gsLst>
                  <a:gs pos="0">
                    <a:srgbClr val="4C678E"/>
                  </a:gs>
                  <a:gs pos="100000">
                    <a:srgbClr val="4C678E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直接连接符 42"/>
            <p:cNvCxnSpPr/>
            <p:nvPr>
              <p:custDataLst>
                <p:tags r:id="rId12"/>
              </p:custDataLst>
            </p:nvPr>
          </p:nvCxnSpPr>
          <p:spPr>
            <a:xfrm>
              <a:off x="1066800" y="4178300"/>
              <a:ext cx="0" cy="317500"/>
            </a:xfrm>
            <a:prstGeom prst="line">
              <a:avLst/>
            </a:prstGeom>
            <a:solidFill>
              <a:schemeClr val="bg1">
                <a:lumMod val="95000"/>
                <a:alpha val="44000"/>
              </a:schemeClr>
            </a:solidFill>
            <a:ln>
              <a:gradFill>
                <a:gsLst>
                  <a:gs pos="0">
                    <a:srgbClr val="4C678E"/>
                  </a:gs>
                  <a:gs pos="100000">
                    <a:srgbClr val="4C678E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直接连接符 43"/>
            <p:cNvCxnSpPr/>
            <p:nvPr>
              <p:custDataLst>
                <p:tags r:id="rId13"/>
              </p:custDataLst>
            </p:nvPr>
          </p:nvCxnSpPr>
          <p:spPr>
            <a:xfrm>
              <a:off x="863600" y="4038600"/>
              <a:ext cx="0" cy="825500"/>
            </a:xfrm>
            <a:prstGeom prst="line">
              <a:avLst/>
            </a:prstGeom>
            <a:solidFill>
              <a:schemeClr val="bg1">
                <a:lumMod val="95000"/>
                <a:alpha val="44000"/>
              </a:schemeClr>
            </a:solidFill>
            <a:ln>
              <a:gradFill>
                <a:gsLst>
                  <a:gs pos="0">
                    <a:srgbClr val="4C678E"/>
                  </a:gs>
                  <a:gs pos="100000">
                    <a:srgbClr val="4C678E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5" name="组合 44"/>
          <p:cNvGrpSpPr/>
          <p:nvPr>
            <p:custDataLst>
              <p:tags r:id="rId14"/>
            </p:custDataLst>
          </p:nvPr>
        </p:nvGrpSpPr>
        <p:grpSpPr>
          <a:xfrm>
            <a:off x="7708900" y="3162300"/>
            <a:ext cx="279400" cy="1003300"/>
            <a:chOff x="863600" y="3403600"/>
            <a:chExt cx="203200" cy="1460500"/>
          </a:xfrm>
        </p:grpSpPr>
        <p:cxnSp>
          <p:nvCxnSpPr>
            <p:cNvPr id="46" name="直接连接符 45"/>
            <p:cNvCxnSpPr/>
            <p:nvPr>
              <p:custDataLst>
                <p:tags r:id="rId15"/>
              </p:custDataLst>
            </p:nvPr>
          </p:nvCxnSpPr>
          <p:spPr>
            <a:xfrm>
              <a:off x="990600" y="3403600"/>
              <a:ext cx="0" cy="406400"/>
            </a:xfrm>
            <a:prstGeom prst="line">
              <a:avLst/>
            </a:prstGeom>
            <a:solidFill>
              <a:schemeClr val="bg1">
                <a:lumMod val="95000"/>
                <a:alpha val="44000"/>
              </a:schemeClr>
            </a:solidFill>
            <a:ln>
              <a:gradFill>
                <a:gsLst>
                  <a:gs pos="0">
                    <a:srgbClr val="4C678E"/>
                  </a:gs>
                  <a:gs pos="100000">
                    <a:srgbClr val="4C678E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直接连接符 46"/>
            <p:cNvCxnSpPr/>
            <p:nvPr>
              <p:custDataLst>
                <p:tags r:id="rId16"/>
              </p:custDataLst>
            </p:nvPr>
          </p:nvCxnSpPr>
          <p:spPr>
            <a:xfrm>
              <a:off x="1066800" y="4178300"/>
              <a:ext cx="0" cy="317500"/>
            </a:xfrm>
            <a:prstGeom prst="line">
              <a:avLst/>
            </a:prstGeom>
            <a:solidFill>
              <a:schemeClr val="bg1">
                <a:lumMod val="95000"/>
                <a:alpha val="44000"/>
              </a:schemeClr>
            </a:solidFill>
            <a:ln>
              <a:gradFill>
                <a:gsLst>
                  <a:gs pos="0">
                    <a:srgbClr val="4C678E"/>
                  </a:gs>
                  <a:gs pos="100000">
                    <a:srgbClr val="4C678E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直接连接符 47"/>
            <p:cNvCxnSpPr/>
            <p:nvPr>
              <p:custDataLst>
                <p:tags r:id="rId17"/>
              </p:custDataLst>
            </p:nvPr>
          </p:nvCxnSpPr>
          <p:spPr>
            <a:xfrm>
              <a:off x="863600" y="4038600"/>
              <a:ext cx="0" cy="825500"/>
            </a:xfrm>
            <a:prstGeom prst="line">
              <a:avLst/>
            </a:prstGeom>
            <a:solidFill>
              <a:schemeClr val="bg1">
                <a:lumMod val="95000"/>
                <a:alpha val="44000"/>
              </a:schemeClr>
            </a:solidFill>
            <a:ln>
              <a:gradFill>
                <a:gsLst>
                  <a:gs pos="0">
                    <a:srgbClr val="4C678E"/>
                  </a:gs>
                  <a:gs pos="100000">
                    <a:srgbClr val="4C678E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4718957" y="541929"/>
            <a:ext cx="275408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研究内容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Google Shape;1369;p34"/>
          <p:cNvSpPr/>
          <p:nvPr>
            <p:custDataLst>
              <p:tags r:id="rId1"/>
            </p:custDataLst>
          </p:nvPr>
        </p:nvSpPr>
        <p:spPr>
          <a:xfrm>
            <a:off x="8994044" y="2276989"/>
            <a:ext cx="575688" cy="575688"/>
          </a:xfrm>
          <a:prstGeom prst="ellipse">
            <a:avLst/>
          </a:prstGeom>
          <a:gradFill flip="none" rotWithShape="1">
            <a:gsLst>
              <a:gs pos="0">
                <a:srgbClr val="4C678E"/>
              </a:gs>
              <a:gs pos="100000">
                <a:srgbClr val="4C678E">
                  <a:alpha val="9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>
                <a:latin typeface="汉仪铁线黑-65简" panose="00020600040101010101" pitchFamily="18" charset="-122"/>
                <a:ea typeface="汉仪铁线黑-65简" panose="00020600040101010101" pitchFamily="18" charset="-122"/>
                <a:sym typeface="Fira Sans"/>
              </a:rPr>
              <a:t>3</a:t>
            </a:r>
            <a:endParaRPr sz="2000">
              <a:latin typeface="汉仪铁线黑-65简" panose="00020600040101010101" pitchFamily="18" charset="-122"/>
              <a:ea typeface="汉仪铁线黑-65简" panose="00020600040101010101" pitchFamily="18" charset="-122"/>
              <a:sym typeface="Fira Sans"/>
            </a:endParaRPr>
          </a:p>
        </p:txBody>
      </p:sp>
      <p:sp>
        <p:nvSpPr>
          <p:cNvPr id="32" name="Google Shape;1373;p34"/>
          <p:cNvSpPr/>
          <p:nvPr>
            <p:custDataLst>
              <p:tags r:id="rId2"/>
            </p:custDataLst>
          </p:nvPr>
        </p:nvSpPr>
        <p:spPr>
          <a:xfrm>
            <a:off x="5743253" y="2279564"/>
            <a:ext cx="575688" cy="575688"/>
          </a:xfrm>
          <a:prstGeom prst="ellipse">
            <a:avLst/>
          </a:prstGeom>
          <a:gradFill flip="none" rotWithShape="1">
            <a:gsLst>
              <a:gs pos="0">
                <a:srgbClr val="4C678E"/>
              </a:gs>
              <a:gs pos="100000">
                <a:srgbClr val="4C678E">
                  <a:alpha val="9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>
                <a:latin typeface="汉仪铁线黑-65简" panose="00020600040101010101" pitchFamily="18" charset="-122"/>
                <a:ea typeface="汉仪铁线黑-65简" panose="00020600040101010101" pitchFamily="18" charset="-122"/>
                <a:sym typeface="Fira Sans"/>
              </a:rPr>
              <a:t>2</a:t>
            </a:r>
            <a:endParaRPr sz="2000">
              <a:latin typeface="汉仪铁线黑-65简" panose="00020600040101010101" pitchFamily="18" charset="-122"/>
              <a:ea typeface="汉仪铁线黑-65简" panose="00020600040101010101" pitchFamily="18" charset="-122"/>
              <a:sym typeface="Fira Sans"/>
            </a:endParaRPr>
          </a:p>
        </p:txBody>
      </p:sp>
      <p:sp>
        <p:nvSpPr>
          <p:cNvPr id="34" name="Google Shape;1376;p34"/>
          <p:cNvSpPr/>
          <p:nvPr>
            <p:custDataLst>
              <p:tags r:id="rId3"/>
            </p:custDataLst>
          </p:nvPr>
        </p:nvSpPr>
        <p:spPr>
          <a:xfrm>
            <a:off x="2208542" y="2276989"/>
            <a:ext cx="575688" cy="575688"/>
          </a:xfrm>
          <a:prstGeom prst="ellipse">
            <a:avLst/>
          </a:prstGeom>
          <a:gradFill flip="none" rotWithShape="1">
            <a:gsLst>
              <a:gs pos="0">
                <a:srgbClr val="4C678E"/>
              </a:gs>
              <a:gs pos="100000">
                <a:srgbClr val="4C678E">
                  <a:alpha val="9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汉仪铁线黑-65简" panose="00020600040101010101" pitchFamily="18" charset="-122"/>
                <a:ea typeface="汉仪铁线黑-65简" panose="00020600040101010101" pitchFamily="18" charset="-122"/>
                <a:sym typeface="Fira Sans"/>
              </a:rPr>
              <a:t>1</a:t>
            </a:r>
            <a:endParaRPr sz="2000" dirty="0">
              <a:latin typeface="汉仪铁线黑-65简" panose="00020600040101010101" pitchFamily="18" charset="-122"/>
              <a:ea typeface="汉仪铁线黑-65简" panose="00020600040101010101" pitchFamily="18" charset="-122"/>
              <a:sym typeface="Fira Sans"/>
            </a:endParaRPr>
          </a:p>
        </p:txBody>
      </p:sp>
      <p:sp>
        <p:nvSpPr>
          <p:cNvPr id="37" name="矩形 36"/>
          <p:cNvSpPr/>
          <p:nvPr>
            <p:custDataLst>
              <p:tags r:id="rId4"/>
            </p:custDataLst>
          </p:nvPr>
        </p:nvSpPr>
        <p:spPr>
          <a:xfrm>
            <a:off x="606477" y="2855251"/>
            <a:ext cx="3519696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研究探索智能合约在溯源数据存证中的应用模式。将核心溯源数据哈希值上传至以太坊区块链，详细业务数据存储于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MySQL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数据库。通过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Web3j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技术实现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Java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应用与以太坊区块链的交互，完成数据上链、交易查询、区块验证等核心功能。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>
            <p:custDataLst>
              <p:tags r:id="rId5"/>
            </p:custDataLst>
          </p:nvPr>
        </p:nvSpPr>
        <p:spPr>
          <a:xfrm>
            <a:off x="4330904" y="2852676"/>
            <a:ext cx="3254448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针对不同农产品类型的生产特点，设计标准化溯源模板。以肉鸡养殖和西红柿种植为典型案例，梳理从初始化、生长管理、质检、加工到销售等关键环节的溯源节点。研究溯源数据的采集标准、上链规则和验证机制，确保数据的完整性和可追溯性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>
            <p:custDataLst>
              <p:tags r:id="rId6"/>
            </p:custDataLst>
          </p:nvPr>
        </p:nvSpPr>
        <p:spPr>
          <a:xfrm>
            <a:off x="7943215" y="3074670"/>
            <a:ext cx="2564765" cy="1846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通过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MessageID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rPr>
              <a:t>在链上查询哈希值与本地数据库的生成的哈希值进行对比。同时经过审核、审批也能提供纠错功能。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+mn-lt"/>
            </a:endParaRPr>
          </a:p>
        </p:txBody>
      </p:sp>
      <p:cxnSp>
        <p:nvCxnSpPr>
          <p:cNvPr id="48" name="直接连接符 47"/>
          <p:cNvCxnSpPr/>
          <p:nvPr>
            <p:custDataLst>
              <p:tags r:id="rId7"/>
            </p:custDataLst>
          </p:nvPr>
        </p:nvCxnSpPr>
        <p:spPr>
          <a:xfrm>
            <a:off x="4228722" y="2293485"/>
            <a:ext cx="0" cy="3177528"/>
          </a:xfrm>
          <a:prstGeom prst="line">
            <a:avLst/>
          </a:prstGeom>
          <a:solidFill>
            <a:schemeClr val="bg1">
              <a:lumMod val="95000"/>
              <a:alpha val="44000"/>
            </a:schemeClr>
          </a:solidFill>
          <a:ln>
            <a:gradFill>
              <a:gsLst>
                <a:gs pos="0">
                  <a:srgbClr val="4C678E"/>
                </a:gs>
                <a:gs pos="100000">
                  <a:srgbClr val="4C678E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直接连接符 50"/>
          <p:cNvCxnSpPr/>
          <p:nvPr>
            <p:custDataLst>
              <p:tags r:id="rId8"/>
            </p:custDataLst>
          </p:nvPr>
        </p:nvCxnSpPr>
        <p:spPr>
          <a:xfrm>
            <a:off x="7730852" y="2293485"/>
            <a:ext cx="0" cy="3177528"/>
          </a:xfrm>
          <a:prstGeom prst="line">
            <a:avLst/>
          </a:prstGeom>
          <a:solidFill>
            <a:schemeClr val="bg1">
              <a:lumMod val="95000"/>
              <a:alpha val="44000"/>
            </a:schemeClr>
          </a:solidFill>
          <a:ln>
            <a:gradFill>
              <a:gsLst>
                <a:gs pos="0">
                  <a:srgbClr val="4C678E"/>
                </a:gs>
                <a:gs pos="100000">
                  <a:srgbClr val="4C678E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文本框 32"/>
          <p:cNvSpPr txBox="1"/>
          <p:nvPr/>
        </p:nvSpPr>
        <p:spPr>
          <a:xfrm>
            <a:off x="3211830" y="586740"/>
            <a:ext cx="53873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项目模块示意图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852930" y="875665"/>
            <a:ext cx="8045450" cy="128905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内容占位符 4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19" y="1673225"/>
            <a:ext cx="9947092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文本框 32"/>
          <p:cNvSpPr txBox="1"/>
          <p:nvPr/>
        </p:nvSpPr>
        <p:spPr>
          <a:xfrm>
            <a:off x="3211830" y="586740"/>
            <a:ext cx="53873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项目模块示意图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852930" y="875665"/>
            <a:ext cx="8045450" cy="128905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内容占位符 4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65" y="1652905"/>
            <a:ext cx="5789295" cy="4140835"/>
          </a:xfrm>
          <a:prstGeom prst="rect">
            <a:avLst/>
          </a:prstGeom>
        </p:spPr>
      </p:pic>
      <p:pic>
        <p:nvPicPr>
          <p:cNvPr id="3" name="内容占位符 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365" y="1652905"/>
            <a:ext cx="5564505" cy="3552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文本框 32"/>
          <p:cNvSpPr txBox="1"/>
          <p:nvPr/>
        </p:nvSpPr>
        <p:spPr>
          <a:xfrm>
            <a:off x="3211830" y="586740"/>
            <a:ext cx="53873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项目模块示意图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852930" y="875665"/>
            <a:ext cx="8045450" cy="128905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内容占位符 4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831" y="1654175"/>
            <a:ext cx="7467338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4718957" y="541929"/>
            <a:ext cx="275408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技术路线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640080" y="1476375"/>
            <a:ext cx="43688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后端：</a:t>
            </a:r>
            <a:endParaRPr lang="zh-CN" altLang="en-US"/>
          </a:p>
          <a:p>
            <a:r>
              <a:rPr lang="en-US" altLang="zh-CN"/>
              <a:t>-</a:t>
            </a:r>
            <a:r>
              <a:rPr lang="zh-CN" altLang="en-US"/>
              <a:t>开发语言：</a:t>
            </a:r>
            <a:r>
              <a:rPr lang="en-US" altLang="zh-CN"/>
              <a:t>Java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框架：</a:t>
            </a:r>
            <a:r>
              <a:rPr lang="en-US" altLang="zh-CN"/>
              <a:t>Spring Boot</a:t>
            </a:r>
            <a:endParaRPr lang="en-US" altLang="zh-CN"/>
          </a:p>
          <a:p>
            <a:r>
              <a:rPr lang="en-US" altLang="zh-CN"/>
              <a:t> </a:t>
            </a:r>
            <a:r>
              <a:rPr lang="zh-CN" altLang="en-US"/>
              <a:t>数据库：</a:t>
            </a:r>
            <a:r>
              <a:rPr lang="en-US" altLang="zh-CN"/>
              <a:t>MySQL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区块链交互：</a:t>
            </a:r>
            <a:r>
              <a:rPr lang="en-US" altLang="zh-CN"/>
              <a:t>Web3j</a:t>
            </a:r>
            <a:endParaRPr lang="en-US" altLang="zh-CN"/>
          </a:p>
          <a:p>
            <a:r>
              <a:rPr lang="zh-CN" altLang="en-US"/>
              <a:t>前端：</a:t>
            </a:r>
            <a:endParaRPr lang="zh-CN" altLang="en-US"/>
          </a:p>
          <a:p>
            <a:r>
              <a:rPr lang="zh-CN" altLang="en-US"/>
              <a:t>管理端</a:t>
            </a:r>
            <a:r>
              <a:rPr lang="en-US" altLang="zh-CN"/>
              <a:t>/</a:t>
            </a:r>
            <a:r>
              <a:rPr lang="zh-CN" altLang="en-US"/>
              <a:t>企业端：</a:t>
            </a:r>
            <a:r>
              <a:rPr lang="en-US" altLang="zh-CN"/>
              <a:t>Vue.js + Element UI</a:t>
            </a:r>
            <a:endParaRPr lang="en-US" altLang="zh-CN"/>
          </a:p>
          <a:p>
            <a:r>
              <a:rPr lang="en-US" altLang="zh-CN"/>
              <a:t> </a:t>
            </a:r>
            <a:r>
              <a:rPr lang="zh-CN" altLang="en-US"/>
              <a:t>小程序：微信小程序原生开发</a:t>
            </a:r>
            <a:endParaRPr lang="en-US" altLang="zh-CN"/>
          </a:p>
          <a:p>
            <a:r>
              <a:rPr lang="zh-CN" altLang="en-US"/>
              <a:t>区块链：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智能合约：</a:t>
            </a:r>
            <a:r>
              <a:rPr lang="en-US" altLang="zh-CN"/>
              <a:t>Solidity</a:t>
            </a:r>
            <a:endParaRPr lang="en-US" altLang="zh-CN"/>
          </a:p>
          <a:p>
            <a:r>
              <a:rPr lang="en-US" altLang="zh-CN"/>
              <a:t> </a:t>
            </a:r>
            <a:r>
              <a:rPr lang="zh-CN" altLang="en-US"/>
              <a:t>开发工具：</a:t>
            </a:r>
            <a:r>
              <a:rPr lang="en-US" altLang="zh-CN"/>
              <a:t>Remix + Truffle</a:t>
            </a:r>
            <a:endParaRPr lang="en-US" altLang="zh-CN"/>
          </a:p>
          <a:p>
            <a:r>
              <a:rPr lang="en-US" altLang="zh-CN"/>
              <a:t> </a:t>
            </a:r>
            <a:r>
              <a:rPr lang="zh-CN" altLang="en-US"/>
              <a:t>测试网络：</a:t>
            </a:r>
            <a:r>
              <a:rPr lang="en-US" altLang="zh-CN"/>
              <a:t>Ganache</a:t>
            </a:r>
            <a:r>
              <a:rPr lang="zh-CN" altLang="en-US"/>
              <a:t>（本地测试）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部署网络：</a:t>
            </a:r>
            <a:r>
              <a:rPr lang="en-US" altLang="zh-CN"/>
              <a:t>Sepolia</a:t>
            </a:r>
            <a:r>
              <a:rPr lang="zh-CN" altLang="en-US"/>
              <a:t>测试网</a:t>
            </a:r>
            <a:endParaRPr lang="zh-CN" altLang="en-US"/>
          </a:p>
          <a:p>
            <a:r>
              <a:rPr lang="zh-CN" altLang="en-US"/>
              <a:t>其他</a:t>
            </a:r>
            <a:endParaRPr lang="zh-CN" altLang="en-US"/>
          </a:p>
          <a:p>
            <a:r>
              <a:rPr lang="zh-CN" altLang="en-US"/>
              <a:t>文件存储：本地存储</a:t>
            </a:r>
            <a:endParaRPr lang="zh-CN" altLang="en-US"/>
          </a:p>
          <a:p>
            <a:r>
              <a:rPr lang="zh-CN" altLang="en-US"/>
              <a:t>地图服务：高德地图</a:t>
            </a:r>
            <a:r>
              <a:rPr lang="en-US" altLang="zh-CN"/>
              <a:t>API</a:t>
            </a:r>
            <a:endParaRPr lang="en-US" altLang="zh-CN"/>
          </a:p>
        </p:txBody>
      </p:sp>
      <p:graphicFrame>
        <p:nvGraphicFramePr>
          <p:cNvPr id="12" name="对象 11"/>
          <p:cNvGraphicFramePr/>
          <p:nvPr/>
        </p:nvGraphicFramePr>
        <p:xfrm>
          <a:off x="5364480" y="1476375"/>
          <a:ext cx="5890895" cy="467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" imgW="9896475" imgH="6400800" progId="Paint.Picture">
                  <p:embed/>
                </p:oleObj>
              </mc:Choice>
              <mc:Fallback>
                <p:oleObj name="" r:id="rId1" imgW="9896475" imgH="6400800" progId="Paint.Picture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64480" y="1476375"/>
                        <a:ext cx="5890895" cy="4679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4718957" y="541929"/>
            <a:ext cx="275408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创新点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1339850" y="1658620"/>
            <a:ext cx="92557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创新点</a:t>
            </a:r>
            <a:r>
              <a:rPr lang="en-US" altLang="zh-CN" sz="2400"/>
              <a:t>1</a:t>
            </a:r>
            <a:r>
              <a:rPr lang="zh-CN" altLang="en-US" sz="2400"/>
              <a:t>：管理端</a:t>
            </a:r>
            <a:r>
              <a:rPr lang="en-US" altLang="zh-CN" sz="2400"/>
              <a:t>+</a:t>
            </a:r>
            <a:r>
              <a:rPr lang="zh-CN" altLang="en-US" sz="2400"/>
              <a:t>企业端（</a:t>
            </a:r>
            <a:r>
              <a:rPr lang="en-US" altLang="zh-CN" sz="2400"/>
              <a:t>PC+</a:t>
            </a:r>
            <a:r>
              <a:rPr lang="zh-CN" altLang="en-US" sz="2400"/>
              <a:t>小程序）</a:t>
            </a:r>
            <a:r>
              <a:rPr lang="en-US" altLang="zh-CN" sz="2400"/>
              <a:t>+</a:t>
            </a:r>
            <a:r>
              <a:rPr lang="zh-CN" altLang="en-US" sz="2400"/>
              <a:t>用户端的一体化设计，覆盖全业务场景。</a:t>
            </a:r>
            <a:endParaRPr lang="zh-CN" altLang="en-US" sz="2400"/>
          </a:p>
        </p:txBody>
      </p:sp>
      <p:sp>
        <p:nvSpPr>
          <p:cNvPr id="14" name="文本框 13"/>
          <p:cNvSpPr txBox="1"/>
          <p:nvPr/>
        </p:nvSpPr>
        <p:spPr>
          <a:xfrm>
            <a:off x="1339850" y="3537585"/>
            <a:ext cx="90043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创新点</a:t>
            </a:r>
            <a:r>
              <a:rPr lang="en-US" altLang="zh-CN" sz="2400"/>
              <a:t>2</a:t>
            </a:r>
            <a:r>
              <a:rPr lang="zh-CN" altLang="en-US" sz="2400"/>
              <a:t>：基于</a:t>
            </a:r>
            <a:r>
              <a:rPr lang="en-US" altLang="zh-CN" sz="2400"/>
              <a:t>Web3j</a:t>
            </a:r>
            <a:r>
              <a:rPr lang="zh-CN" altLang="en-US" sz="2400"/>
              <a:t>实现企业级以太坊应用开发，便于企业技术栈整合。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4718957" y="541929"/>
            <a:ext cx="275408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安排进度</a:t>
            </a:r>
            <a:endParaRPr lang="zh-CN" altLang="en-US" sz="40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/>
            <p:cNvCxnSpPr/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/>
            <p:cNvCxnSpPr/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表格 11"/>
          <p:cNvGraphicFramePr/>
          <p:nvPr/>
        </p:nvGraphicFramePr>
        <p:xfrm>
          <a:off x="234315" y="1388745"/>
          <a:ext cx="11684635" cy="4993005"/>
        </p:xfrm>
        <a:graphic>
          <a:graphicData uri="http://schemas.openxmlformats.org/drawingml/2006/table">
            <a:tbl>
              <a:tblPr/>
              <a:tblGrid>
                <a:gridCol w="1231265"/>
                <a:gridCol w="7484110"/>
                <a:gridCol w="2969260"/>
              </a:tblGrid>
              <a:tr h="419735">
                <a:tc>
                  <a:txBody>
                    <a:bodyPr/>
                    <a:p>
                      <a:pPr marL="200025" indent="0" algn="ctr" eaLnBrk="0" fontAlgn="base"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起止日期</a:t>
                      </a:r>
                      <a:endParaRPr lang="zh-CN" sz="16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31570" indent="0" algn="ctr" eaLnBrk="0" fontAlgn="base"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主要内容</a:t>
                      </a:r>
                      <a:endParaRPr lang="zh-CN" sz="16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45795" indent="0" algn="ctr" eaLnBrk="0" fontAlgn="base"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预期结果</a:t>
                      </a:r>
                      <a:endParaRPr lang="zh-CN" sz="16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8705">
                <a:tc>
                  <a:txBody>
                    <a:bodyPr/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2026.01.09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~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2026.01.20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3970" indent="0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完成系统总体架构设计。设计区块链数据存储方案并设计系统主要功能模块。绘制系统架构图、流程图、时序图等，确定技术选型和开发环境搭建，最后设计智能合约接口和哈希校验机制。</a:t>
                      </a:r>
                      <a:endParaRPr lang="zh-CN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0795" indent="0" eaLnBrk="0" fontAlgn="base"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初步构造出系统设计方案，技术准备和大体框架</a:t>
                      </a:r>
                      <a:endParaRPr lang="zh-CN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9340">
                <a:tc>
                  <a:txBody>
                    <a:bodyPr/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2026.01.21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~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2026.02.28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3970" indent="0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搭建开发环境，配置区块链测试网络，开发后端接口（用户管理、数据上链、溯源查询等）。编写智能合约并部署测试。开发前端页面（管理端和用户端），实现区块链交互功能和哈希校验功能，完成各功能模块的单元测试。</a:t>
                      </a:r>
                      <a:endParaRPr lang="zh-CN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0795" indent="0" algn="just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系统核心功能代码、开发日志</a:t>
                      </a:r>
                      <a:endParaRPr lang="zh-CN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6305">
                <a:tc>
                  <a:txBody>
                    <a:bodyPr/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2026.03.01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~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2026.03.30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3970" indent="0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编写测试用例，进行功能测试。进行性能测试和压力测试，测试区块链数据上链和查询功能。验证数据防篡改机制的有效性，准备系统演示环境和测试数据等。</a:t>
                      </a:r>
                      <a:endParaRPr lang="zh-CN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0795" indent="0" eaLnBrk="0" fontAlgn="base"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测试报告、系统演示视频</a:t>
                      </a:r>
                      <a:endParaRPr lang="zh-CN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6915">
                <a:tc>
                  <a:txBody>
                    <a:bodyPr/>
                    <a:p>
                      <a:pPr marL="71755" indent="0" algn="l" eaLnBrk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2026.03.31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71755" indent="0" algn="l" eaLnBrk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~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71755" indent="0" algn="l" eaLnBrk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2026.04.28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3970" indent="0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撰写论文正文各章节内容，整理实验数据，绘制图表规范论文格式，检查参考文献。反复修改润色论文。</a:t>
                      </a:r>
                      <a:endParaRPr lang="zh-CN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0795" indent="0" eaLnBrk="0" fontAlgn="base"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论文初稿</a:t>
                      </a:r>
                      <a:endParaRPr lang="zh-CN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2005">
                <a:tc>
                  <a:txBody>
                    <a:bodyPr/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2026.04.29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~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marL="1397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2026.05.17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3970" indent="0" eaLnBrk="0" fontAlgn="base"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完善论文细节，进行查重检测，准备答辩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PPT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、系统演示和答辩问题。最后提交论文终稿和相关材料，参加毕业答辩。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0795" indent="0" eaLnBrk="0" fontAlgn="base"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论文终稿、答辩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PPT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、系统演示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-269875" y="-90402"/>
            <a:ext cx="12992100" cy="6862677"/>
            <a:chOff x="0" y="-4677"/>
            <a:chExt cx="12192000" cy="686267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8" t="10561" r="2412" b="26928"/>
            <a:stretch>
              <a:fillRect/>
            </a:stretch>
          </p:blipFill>
          <p:spPr>
            <a:xfrm>
              <a:off x="0" y="-4677"/>
              <a:ext cx="12192000" cy="6862677"/>
            </a:xfrm>
            <a:prstGeom prst="rect">
              <a:avLst/>
            </a:prstGeom>
          </p:spPr>
        </p:pic>
        <p:sp>
          <p:nvSpPr>
            <p:cNvPr id="11" name="任意多边形: 形状 10"/>
            <p:cNvSpPr/>
            <p:nvPr/>
          </p:nvSpPr>
          <p:spPr>
            <a:xfrm>
              <a:off x="1238911" y="147978"/>
              <a:ext cx="9434423" cy="4654525"/>
            </a:xfrm>
            <a:custGeom>
              <a:avLst/>
              <a:gdLst>
                <a:gd name="connsiteX0" fmla="*/ 132689 w 9434423"/>
                <a:gd name="connsiteY0" fmla="*/ 737847 h 4654525"/>
                <a:gd name="connsiteX1" fmla="*/ 180314 w 9434423"/>
                <a:gd name="connsiteY1" fmla="*/ 861672 h 4654525"/>
                <a:gd name="connsiteX2" fmla="*/ 1961489 w 9434423"/>
                <a:gd name="connsiteY2" fmla="*/ 3052422 h 4654525"/>
                <a:gd name="connsiteX3" fmla="*/ 3695039 w 9434423"/>
                <a:gd name="connsiteY3" fmla="*/ 3547722 h 4654525"/>
                <a:gd name="connsiteX4" fmla="*/ 6409664 w 9434423"/>
                <a:gd name="connsiteY4" fmla="*/ 3881097 h 4654525"/>
                <a:gd name="connsiteX5" fmla="*/ 6676364 w 9434423"/>
                <a:gd name="connsiteY5" fmla="*/ 3633447 h 4654525"/>
                <a:gd name="connsiteX6" fmla="*/ 8438489 w 9434423"/>
                <a:gd name="connsiteY6" fmla="*/ 4652622 h 4654525"/>
                <a:gd name="connsiteX7" fmla="*/ 9371939 w 9434423"/>
                <a:gd name="connsiteY7" fmla="*/ 3842997 h 4654525"/>
                <a:gd name="connsiteX8" fmla="*/ 9248114 w 9434423"/>
                <a:gd name="connsiteY8" fmla="*/ 2299947 h 4654525"/>
                <a:gd name="connsiteX9" fmla="*/ 8438489 w 9434423"/>
                <a:gd name="connsiteY9" fmla="*/ 1214097 h 4654525"/>
                <a:gd name="connsiteX10" fmla="*/ 6314414 w 9434423"/>
                <a:gd name="connsiteY10" fmla="*/ 194922 h 4654525"/>
                <a:gd name="connsiteX11" fmla="*/ 5761964 w 9434423"/>
                <a:gd name="connsiteY11" fmla="*/ 4422 h 4654525"/>
                <a:gd name="connsiteX12" fmla="*/ 4742789 w 9434423"/>
                <a:gd name="connsiteY12" fmla="*/ 271122 h 4654525"/>
                <a:gd name="connsiteX13" fmla="*/ 3866489 w 9434423"/>
                <a:gd name="connsiteY13" fmla="*/ 852147 h 4654525"/>
                <a:gd name="connsiteX14" fmla="*/ 2523464 w 9434423"/>
                <a:gd name="connsiteY14" fmla="*/ 623547 h 4654525"/>
                <a:gd name="connsiteX15" fmla="*/ 818489 w 9434423"/>
                <a:gd name="connsiteY15" fmla="*/ 480672 h 4654525"/>
                <a:gd name="connsiteX16" fmla="*/ 132689 w 9434423"/>
                <a:gd name="connsiteY16" fmla="*/ 737847 h 465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434423" h="4654525">
                  <a:moveTo>
                    <a:pt x="132689" y="737847"/>
                  </a:moveTo>
                  <a:cubicBezTo>
                    <a:pt x="26327" y="801347"/>
                    <a:pt x="-124486" y="475910"/>
                    <a:pt x="180314" y="861672"/>
                  </a:cubicBezTo>
                  <a:cubicBezTo>
                    <a:pt x="485114" y="1247434"/>
                    <a:pt x="1375702" y="2604747"/>
                    <a:pt x="1961489" y="3052422"/>
                  </a:cubicBezTo>
                  <a:cubicBezTo>
                    <a:pt x="2547277" y="3500097"/>
                    <a:pt x="2953677" y="3409610"/>
                    <a:pt x="3695039" y="3547722"/>
                  </a:cubicBezTo>
                  <a:cubicBezTo>
                    <a:pt x="4436401" y="3685834"/>
                    <a:pt x="5912777" y="3866810"/>
                    <a:pt x="6409664" y="3881097"/>
                  </a:cubicBezTo>
                  <a:cubicBezTo>
                    <a:pt x="6906552" y="3895385"/>
                    <a:pt x="6338226" y="3504859"/>
                    <a:pt x="6676364" y="3633447"/>
                  </a:cubicBezTo>
                  <a:cubicBezTo>
                    <a:pt x="7014502" y="3762035"/>
                    <a:pt x="7989227" y="4617697"/>
                    <a:pt x="8438489" y="4652622"/>
                  </a:cubicBezTo>
                  <a:cubicBezTo>
                    <a:pt x="8887751" y="4687547"/>
                    <a:pt x="9237001" y="4235110"/>
                    <a:pt x="9371939" y="3842997"/>
                  </a:cubicBezTo>
                  <a:cubicBezTo>
                    <a:pt x="9506877" y="3450884"/>
                    <a:pt x="9403689" y="2738097"/>
                    <a:pt x="9248114" y="2299947"/>
                  </a:cubicBezTo>
                  <a:cubicBezTo>
                    <a:pt x="9092539" y="1861797"/>
                    <a:pt x="8927439" y="1564935"/>
                    <a:pt x="8438489" y="1214097"/>
                  </a:cubicBezTo>
                  <a:cubicBezTo>
                    <a:pt x="7949539" y="863260"/>
                    <a:pt x="6760502" y="396535"/>
                    <a:pt x="6314414" y="194922"/>
                  </a:cubicBezTo>
                  <a:cubicBezTo>
                    <a:pt x="5868326" y="-6691"/>
                    <a:pt x="6023901" y="-8278"/>
                    <a:pt x="5761964" y="4422"/>
                  </a:cubicBezTo>
                  <a:cubicBezTo>
                    <a:pt x="5500027" y="17122"/>
                    <a:pt x="5058702" y="129834"/>
                    <a:pt x="4742789" y="271122"/>
                  </a:cubicBezTo>
                  <a:cubicBezTo>
                    <a:pt x="4426876" y="412410"/>
                    <a:pt x="4236377" y="793409"/>
                    <a:pt x="3866489" y="852147"/>
                  </a:cubicBezTo>
                  <a:cubicBezTo>
                    <a:pt x="3496601" y="910885"/>
                    <a:pt x="3031464" y="685459"/>
                    <a:pt x="2523464" y="623547"/>
                  </a:cubicBezTo>
                  <a:cubicBezTo>
                    <a:pt x="2015464" y="561634"/>
                    <a:pt x="1213776" y="466385"/>
                    <a:pt x="818489" y="480672"/>
                  </a:cubicBezTo>
                  <a:cubicBezTo>
                    <a:pt x="423202" y="494959"/>
                    <a:pt x="239051" y="674347"/>
                    <a:pt x="132689" y="7378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ísļîḓé"/>
          <p:cNvGrpSpPr/>
          <p:nvPr/>
        </p:nvGrpSpPr>
        <p:grpSpPr>
          <a:xfrm>
            <a:off x="452000" y="592577"/>
            <a:ext cx="519548" cy="519548"/>
            <a:chOff x="5683121" y="1558109"/>
            <a:chExt cx="673626" cy="673626"/>
          </a:xfrm>
        </p:grpSpPr>
        <p:sp>
          <p:nvSpPr>
            <p:cNvPr id="19" name="ïşļíḋê"/>
            <p:cNvSpPr/>
            <p:nvPr/>
          </p:nvSpPr>
          <p:spPr>
            <a:xfrm>
              <a:off x="5683121" y="1558109"/>
              <a:ext cx="673626" cy="673626"/>
            </a:xfrm>
            <a:custGeom>
              <a:avLst/>
              <a:gdLst>
                <a:gd name="connsiteX0" fmla="*/ 274320 w 548640"/>
                <a:gd name="connsiteY0" fmla="*/ 0 h 548640"/>
                <a:gd name="connsiteX1" fmla="*/ 548640 w 548640"/>
                <a:gd name="connsiteY1" fmla="*/ 274320 h 548640"/>
                <a:gd name="connsiteX2" fmla="*/ 274320 w 548640"/>
                <a:gd name="connsiteY2" fmla="*/ 548640 h 548640"/>
                <a:gd name="connsiteX3" fmla="*/ 0 w 548640"/>
                <a:gd name="connsiteY3" fmla="*/ 274320 h 548640"/>
                <a:gd name="connsiteX4" fmla="*/ 274320 w 54864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" h="548640">
                  <a:moveTo>
                    <a:pt x="274320" y="0"/>
                  </a:moveTo>
                  <a:cubicBezTo>
                    <a:pt x="425823" y="0"/>
                    <a:pt x="548640" y="122817"/>
                    <a:pt x="548640" y="274320"/>
                  </a:cubicBezTo>
                  <a:cubicBezTo>
                    <a:pt x="548640" y="425823"/>
                    <a:pt x="425823" y="548640"/>
                    <a:pt x="274320" y="548640"/>
                  </a:cubicBezTo>
                  <a:cubicBezTo>
                    <a:pt x="122817" y="548640"/>
                    <a:pt x="0" y="425823"/>
                    <a:pt x="0" y="274320"/>
                  </a:cubicBezTo>
                  <a:cubicBezTo>
                    <a:pt x="0" y="122817"/>
                    <a:pt x="122817" y="0"/>
                    <a:pt x="274320" y="0"/>
                  </a:cubicBezTo>
                  <a:close/>
                </a:path>
              </a:pathLst>
            </a:custGeom>
            <a:solidFill>
              <a:srgbClr val="4C678E"/>
            </a:solidFill>
            <a:ln w="38100"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îśľîḍe"/>
            <p:cNvSpPr/>
            <p:nvPr/>
          </p:nvSpPr>
          <p:spPr bwMode="auto">
            <a:xfrm>
              <a:off x="5844363" y="1753151"/>
              <a:ext cx="351148" cy="283545"/>
            </a:xfrm>
            <a:custGeom>
              <a:avLst/>
              <a:gdLst>
                <a:gd name="connsiteX0" fmla="*/ 499361 w 608838"/>
                <a:gd name="connsiteY0" fmla="*/ 285654 h 491629"/>
                <a:gd name="connsiteX1" fmla="*/ 499361 w 608838"/>
                <a:gd name="connsiteY1" fmla="*/ 344437 h 491629"/>
                <a:gd name="connsiteX2" fmla="*/ 558245 w 608838"/>
                <a:gd name="connsiteY2" fmla="*/ 344437 h 491629"/>
                <a:gd name="connsiteX3" fmla="*/ 558245 w 608838"/>
                <a:gd name="connsiteY3" fmla="*/ 285654 h 491629"/>
                <a:gd name="connsiteX4" fmla="*/ 50593 w 608838"/>
                <a:gd name="connsiteY4" fmla="*/ 285654 h 491629"/>
                <a:gd name="connsiteX5" fmla="*/ 50593 w 608838"/>
                <a:gd name="connsiteY5" fmla="*/ 344437 h 491629"/>
                <a:gd name="connsiteX6" fmla="*/ 109477 w 608838"/>
                <a:gd name="connsiteY6" fmla="*/ 344437 h 491629"/>
                <a:gd name="connsiteX7" fmla="*/ 109477 w 608838"/>
                <a:gd name="connsiteY7" fmla="*/ 285654 h 491629"/>
                <a:gd name="connsiteX8" fmla="*/ 324062 w 608838"/>
                <a:gd name="connsiteY8" fmla="*/ 265425 h 491629"/>
                <a:gd name="connsiteX9" fmla="*/ 324062 w 608838"/>
                <a:gd name="connsiteY9" fmla="*/ 329947 h 491629"/>
                <a:gd name="connsiteX10" fmla="*/ 388693 w 608838"/>
                <a:gd name="connsiteY10" fmla="*/ 329947 h 491629"/>
                <a:gd name="connsiteX11" fmla="*/ 388693 w 608838"/>
                <a:gd name="connsiteY11" fmla="*/ 265425 h 491629"/>
                <a:gd name="connsiteX12" fmla="*/ 220144 w 608838"/>
                <a:gd name="connsiteY12" fmla="*/ 265425 h 491629"/>
                <a:gd name="connsiteX13" fmla="*/ 220144 w 608838"/>
                <a:gd name="connsiteY13" fmla="*/ 329947 h 491629"/>
                <a:gd name="connsiteX14" fmla="*/ 284775 w 608838"/>
                <a:gd name="connsiteY14" fmla="*/ 329947 h 491629"/>
                <a:gd name="connsiteX15" fmla="*/ 284775 w 608838"/>
                <a:gd name="connsiteY15" fmla="*/ 265425 h 491629"/>
                <a:gd name="connsiteX16" fmla="*/ 499361 w 608838"/>
                <a:gd name="connsiteY16" fmla="*/ 191225 h 491629"/>
                <a:gd name="connsiteX17" fmla="*/ 499361 w 608838"/>
                <a:gd name="connsiteY17" fmla="*/ 250008 h 491629"/>
                <a:gd name="connsiteX18" fmla="*/ 558245 w 608838"/>
                <a:gd name="connsiteY18" fmla="*/ 250008 h 491629"/>
                <a:gd name="connsiteX19" fmla="*/ 558245 w 608838"/>
                <a:gd name="connsiteY19" fmla="*/ 191225 h 491629"/>
                <a:gd name="connsiteX20" fmla="*/ 50593 w 608838"/>
                <a:gd name="connsiteY20" fmla="*/ 191225 h 491629"/>
                <a:gd name="connsiteX21" fmla="*/ 50593 w 608838"/>
                <a:gd name="connsiteY21" fmla="*/ 250008 h 491629"/>
                <a:gd name="connsiteX22" fmla="*/ 109477 w 608838"/>
                <a:gd name="connsiteY22" fmla="*/ 250008 h 491629"/>
                <a:gd name="connsiteX23" fmla="*/ 109477 w 608838"/>
                <a:gd name="connsiteY23" fmla="*/ 191225 h 491629"/>
                <a:gd name="connsiteX24" fmla="*/ 324062 w 608838"/>
                <a:gd name="connsiteY24" fmla="*/ 161682 h 491629"/>
                <a:gd name="connsiteX25" fmla="*/ 324062 w 608838"/>
                <a:gd name="connsiteY25" fmla="*/ 226204 h 491629"/>
                <a:gd name="connsiteX26" fmla="*/ 388693 w 608838"/>
                <a:gd name="connsiteY26" fmla="*/ 226204 h 491629"/>
                <a:gd name="connsiteX27" fmla="*/ 388693 w 608838"/>
                <a:gd name="connsiteY27" fmla="*/ 161682 h 491629"/>
                <a:gd name="connsiteX28" fmla="*/ 220144 w 608838"/>
                <a:gd name="connsiteY28" fmla="*/ 161682 h 491629"/>
                <a:gd name="connsiteX29" fmla="*/ 220144 w 608838"/>
                <a:gd name="connsiteY29" fmla="*/ 226204 h 491629"/>
                <a:gd name="connsiteX30" fmla="*/ 284775 w 608838"/>
                <a:gd name="connsiteY30" fmla="*/ 226204 h 491629"/>
                <a:gd name="connsiteX31" fmla="*/ 284775 w 608838"/>
                <a:gd name="connsiteY31" fmla="*/ 161682 h 491629"/>
                <a:gd name="connsiteX32" fmla="*/ 499361 w 608838"/>
                <a:gd name="connsiteY32" fmla="*/ 96797 h 491629"/>
                <a:gd name="connsiteX33" fmla="*/ 499361 w 608838"/>
                <a:gd name="connsiteY33" fmla="*/ 155579 h 491629"/>
                <a:gd name="connsiteX34" fmla="*/ 558245 w 608838"/>
                <a:gd name="connsiteY34" fmla="*/ 155579 h 491629"/>
                <a:gd name="connsiteX35" fmla="*/ 558245 w 608838"/>
                <a:gd name="connsiteY35" fmla="*/ 96797 h 491629"/>
                <a:gd name="connsiteX36" fmla="*/ 50593 w 608838"/>
                <a:gd name="connsiteY36" fmla="*/ 96797 h 491629"/>
                <a:gd name="connsiteX37" fmla="*/ 50593 w 608838"/>
                <a:gd name="connsiteY37" fmla="*/ 155579 h 491629"/>
                <a:gd name="connsiteX38" fmla="*/ 109477 w 608838"/>
                <a:gd name="connsiteY38" fmla="*/ 155579 h 491629"/>
                <a:gd name="connsiteX39" fmla="*/ 109477 w 608838"/>
                <a:gd name="connsiteY39" fmla="*/ 96797 h 491629"/>
                <a:gd name="connsiteX40" fmla="*/ 324062 w 608838"/>
                <a:gd name="connsiteY40" fmla="*/ 57938 h 491629"/>
                <a:gd name="connsiteX41" fmla="*/ 324062 w 608838"/>
                <a:gd name="connsiteY41" fmla="*/ 122461 h 491629"/>
                <a:gd name="connsiteX42" fmla="*/ 388693 w 608838"/>
                <a:gd name="connsiteY42" fmla="*/ 122461 h 491629"/>
                <a:gd name="connsiteX43" fmla="*/ 388693 w 608838"/>
                <a:gd name="connsiteY43" fmla="*/ 57938 h 491629"/>
                <a:gd name="connsiteX44" fmla="*/ 220144 w 608838"/>
                <a:gd name="connsiteY44" fmla="*/ 57938 h 491629"/>
                <a:gd name="connsiteX45" fmla="*/ 220144 w 608838"/>
                <a:gd name="connsiteY45" fmla="*/ 122461 h 491629"/>
                <a:gd name="connsiteX46" fmla="*/ 284775 w 608838"/>
                <a:gd name="connsiteY46" fmla="*/ 122461 h 491629"/>
                <a:gd name="connsiteX47" fmla="*/ 284775 w 608838"/>
                <a:gd name="connsiteY47" fmla="*/ 57938 h 491629"/>
                <a:gd name="connsiteX48" fmla="*/ 469401 w 608838"/>
                <a:gd name="connsiteY48" fmla="*/ 44033 h 491629"/>
                <a:gd name="connsiteX49" fmla="*/ 608838 w 608838"/>
                <a:gd name="connsiteY49" fmla="*/ 44033 h 491629"/>
                <a:gd name="connsiteX50" fmla="*/ 608838 w 608838"/>
                <a:gd name="connsiteY50" fmla="*/ 491629 h 491629"/>
                <a:gd name="connsiteX51" fmla="*/ 510950 w 608838"/>
                <a:gd name="connsiteY51" fmla="*/ 491629 h 491629"/>
                <a:gd name="connsiteX52" fmla="*/ 510950 w 608838"/>
                <a:gd name="connsiteY52" fmla="*/ 391651 h 491629"/>
                <a:gd name="connsiteX53" fmla="*/ 469401 w 608838"/>
                <a:gd name="connsiteY53" fmla="*/ 391651 h 491629"/>
                <a:gd name="connsiteX54" fmla="*/ 0 w 608838"/>
                <a:gd name="connsiteY54" fmla="*/ 44033 h 491629"/>
                <a:gd name="connsiteX55" fmla="*/ 139437 w 608838"/>
                <a:gd name="connsiteY55" fmla="*/ 44033 h 491629"/>
                <a:gd name="connsiteX56" fmla="*/ 139437 w 608838"/>
                <a:gd name="connsiteY56" fmla="*/ 391651 h 491629"/>
                <a:gd name="connsiteX57" fmla="*/ 97889 w 608838"/>
                <a:gd name="connsiteY57" fmla="*/ 391651 h 491629"/>
                <a:gd name="connsiteX58" fmla="*/ 97889 w 608838"/>
                <a:gd name="connsiteY58" fmla="*/ 491629 h 491629"/>
                <a:gd name="connsiteX59" fmla="*/ 0 w 608838"/>
                <a:gd name="connsiteY59" fmla="*/ 491629 h 491629"/>
                <a:gd name="connsiteX60" fmla="*/ 164558 w 608838"/>
                <a:gd name="connsiteY60" fmla="*/ 0 h 491629"/>
                <a:gd name="connsiteX61" fmla="*/ 444279 w 608838"/>
                <a:gd name="connsiteY61" fmla="*/ 0 h 491629"/>
                <a:gd name="connsiteX62" fmla="*/ 444279 w 608838"/>
                <a:gd name="connsiteY62" fmla="*/ 491629 h 491629"/>
                <a:gd name="connsiteX63" fmla="*/ 336781 w 608838"/>
                <a:gd name="connsiteY63" fmla="*/ 491629 h 491629"/>
                <a:gd name="connsiteX64" fmla="*/ 336781 w 608838"/>
                <a:gd name="connsiteY64" fmla="*/ 381866 h 491629"/>
                <a:gd name="connsiteX65" fmla="*/ 272056 w 608838"/>
                <a:gd name="connsiteY65" fmla="*/ 381866 h 491629"/>
                <a:gd name="connsiteX66" fmla="*/ 272056 w 608838"/>
                <a:gd name="connsiteY66" fmla="*/ 491629 h 491629"/>
                <a:gd name="connsiteX67" fmla="*/ 164558 w 608838"/>
                <a:gd name="connsiteY67" fmla="*/ 491629 h 49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8838" h="491629">
                  <a:moveTo>
                    <a:pt x="499361" y="285654"/>
                  </a:moveTo>
                  <a:lnTo>
                    <a:pt x="499361" y="344437"/>
                  </a:lnTo>
                  <a:lnTo>
                    <a:pt x="558245" y="344437"/>
                  </a:lnTo>
                  <a:lnTo>
                    <a:pt x="558245" y="285654"/>
                  </a:lnTo>
                  <a:close/>
                  <a:moveTo>
                    <a:pt x="50593" y="285654"/>
                  </a:moveTo>
                  <a:lnTo>
                    <a:pt x="50593" y="344437"/>
                  </a:lnTo>
                  <a:lnTo>
                    <a:pt x="109477" y="344437"/>
                  </a:lnTo>
                  <a:lnTo>
                    <a:pt x="109477" y="285654"/>
                  </a:lnTo>
                  <a:close/>
                  <a:moveTo>
                    <a:pt x="324062" y="265425"/>
                  </a:moveTo>
                  <a:lnTo>
                    <a:pt x="324062" y="329947"/>
                  </a:lnTo>
                  <a:lnTo>
                    <a:pt x="388693" y="329947"/>
                  </a:lnTo>
                  <a:lnTo>
                    <a:pt x="388693" y="265425"/>
                  </a:lnTo>
                  <a:close/>
                  <a:moveTo>
                    <a:pt x="220144" y="265425"/>
                  </a:moveTo>
                  <a:lnTo>
                    <a:pt x="220144" y="329947"/>
                  </a:lnTo>
                  <a:lnTo>
                    <a:pt x="284775" y="329947"/>
                  </a:lnTo>
                  <a:lnTo>
                    <a:pt x="284775" y="265425"/>
                  </a:lnTo>
                  <a:close/>
                  <a:moveTo>
                    <a:pt x="499361" y="191225"/>
                  </a:moveTo>
                  <a:lnTo>
                    <a:pt x="499361" y="250008"/>
                  </a:lnTo>
                  <a:lnTo>
                    <a:pt x="558245" y="250008"/>
                  </a:lnTo>
                  <a:lnTo>
                    <a:pt x="558245" y="191225"/>
                  </a:lnTo>
                  <a:close/>
                  <a:moveTo>
                    <a:pt x="50593" y="191225"/>
                  </a:moveTo>
                  <a:lnTo>
                    <a:pt x="50593" y="250008"/>
                  </a:lnTo>
                  <a:lnTo>
                    <a:pt x="109477" y="250008"/>
                  </a:lnTo>
                  <a:lnTo>
                    <a:pt x="109477" y="191225"/>
                  </a:lnTo>
                  <a:close/>
                  <a:moveTo>
                    <a:pt x="324062" y="161682"/>
                  </a:moveTo>
                  <a:lnTo>
                    <a:pt x="324062" y="226204"/>
                  </a:lnTo>
                  <a:lnTo>
                    <a:pt x="388693" y="226204"/>
                  </a:lnTo>
                  <a:lnTo>
                    <a:pt x="388693" y="161682"/>
                  </a:lnTo>
                  <a:close/>
                  <a:moveTo>
                    <a:pt x="220144" y="161682"/>
                  </a:moveTo>
                  <a:lnTo>
                    <a:pt x="220144" y="226204"/>
                  </a:lnTo>
                  <a:lnTo>
                    <a:pt x="284775" y="226204"/>
                  </a:lnTo>
                  <a:lnTo>
                    <a:pt x="284775" y="161682"/>
                  </a:lnTo>
                  <a:close/>
                  <a:moveTo>
                    <a:pt x="499361" y="96797"/>
                  </a:moveTo>
                  <a:lnTo>
                    <a:pt x="499361" y="155579"/>
                  </a:lnTo>
                  <a:lnTo>
                    <a:pt x="558245" y="155579"/>
                  </a:lnTo>
                  <a:lnTo>
                    <a:pt x="558245" y="96797"/>
                  </a:lnTo>
                  <a:close/>
                  <a:moveTo>
                    <a:pt x="50593" y="96797"/>
                  </a:moveTo>
                  <a:lnTo>
                    <a:pt x="50593" y="155579"/>
                  </a:lnTo>
                  <a:lnTo>
                    <a:pt x="109477" y="155579"/>
                  </a:lnTo>
                  <a:lnTo>
                    <a:pt x="109477" y="96797"/>
                  </a:lnTo>
                  <a:close/>
                  <a:moveTo>
                    <a:pt x="324062" y="57938"/>
                  </a:moveTo>
                  <a:lnTo>
                    <a:pt x="324062" y="122461"/>
                  </a:lnTo>
                  <a:lnTo>
                    <a:pt x="388693" y="122461"/>
                  </a:lnTo>
                  <a:lnTo>
                    <a:pt x="388693" y="57938"/>
                  </a:lnTo>
                  <a:close/>
                  <a:moveTo>
                    <a:pt x="220144" y="57938"/>
                  </a:moveTo>
                  <a:lnTo>
                    <a:pt x="220144" y="122461"/>
                  </a:lnTo>
                  <a:lnTo>
                    <a:pt x="284775" y="122461"/>
                  </a:lnTo>
                  <a:lnTo>
                    <a:pt x="284775" y="57938"/>
                  </a:lnTo>
                  <a:close/>
                  <a:moveTo>
                    <a:pt x="469401" y="44033"/>
                  </a:moveTo>
                  <a:lnTo>
                    <a:pt x="608838" y="44033"/>
                  </a:lnTo>
                  <a:lnTo>
                    <a:pt x="608838" y="491629"/>
                  </a:lnTo>
                  <a:lnTo>
                    <a:pt x="510950" y="491629"/>
                  </a:lnTo>
                  <a:lnTo>
                    <a:pt x="510950" y="391651"/>
                  </a:lnTo>
                  <a:lnTo>
                    <a:pt x="469401" y="391651"/>
                  </a:lnTo>
                  <a:close/>
                  <a:moveTo>
                    <a:pt x="0" y="44033"/>
                  </a:moveTo>
                  <a:lnTo>
                    <a:pt x="139437" y="44033"/>
                  </a:lnTo>
                  <a:lnTo>
                    <a:pt x="139437" y="391651"/>
                  </a:lnTo>
                  <a:lnTo>
                    <a:pt x="97889" y="391651"/>
                  </a:lnTo>
                  <a:lnTo>
                    <a:pt x="97889" y="491629"/>
                  </a:lnTo>
                  <a:lnTo>
                    <a:pt x="0" y="491629"/>
                  </a:lnTo>
                  <a:close/>
                  <a:moveTo>
                    <a:pt x="164558" y="0"/>
                  </a:moveTo>
                  <a:lnTo>
                    <a:pt x="444279" y="0"/>
                  </a:lnTo>
                  <a:lnTo>
                    <a:pt x="444279" y="491629"/>
                  </a:lnTo>
                  <a:lnTo>
                    <a:pt x="336781" y="491629"/>
                  </a:lnTo>
                  <a:lnTo>
                    <a:pt x="336781" y="381866"/>
                  </a:lnTo>
                  <a:lnTo>
                    <a:pt x="272056" y="381866"/>
                  </a:lnTo>
                  <a:lnTo>
                    <a:pt x="272056" y="491629"/>
                  </a:lnTo>
                  <a:lnTo>
                    <a:pt x="164558" y="4916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147464" y="1866213"/>
            <a:ext cx="3897072" cy="829945"/>
            <a:chOff x="4147464" y="1866213"/>
            <a:chExt cx="3897072" cy="829945"/>
          </a:xfrm>
        </p:grpSpPr>
        <p:sp>
          <p:nvSpPr>
            <p:cNvPr id="14" name="文本框 13"/>
            <p:cNvSpPr txBox="1"/>
            <p:nvPr/>
          </p:nvSpPr>
          <p:spPr>
            <a:xfrm>
              <a:off x="5133975" y="1866213"/>
              <a:ext cx="192405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4C678E"/>
                  </a:solidFill>
                  <a:latin typeface="汉仪铁线黑-65简" panose="00020600040101010101" pitchFamily="18" charset="-122"/>
                  <a:ea typeface="汉仪铁线黑-65简" panose="00020600040101010101" pitchFamily="18" charset="-122"/>
                </a:rPr>
                <a:t>2026</a:t>
              </a:r>
              <a:endParaRPr lang="zh-CN" altLang="en-US" sz="4800" b="1" dirty="0">
                <a:solidFill>
                  <a:srgbClr val="4C678E"/>
                </a:solidFill>
                <a:latin typeface="汉仪铁线黑-65简" panose="00020600040101010101" pitchFamily="18" charset="-122"/>
                <a:ea typeface="汉仪铁线黑-65简" panose="00020600040101010101" pitchFamily="18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147464" y="2311239"/>
              <a:ext cx="3897072" cy="0"/>
              <a:chOff x="4257678" y="2482689"/>
              <a:chExt cx="3897072" cy="0"/>
            </a:xfrm>
          </p:grpSpPr>
          <p:cxnSp>
            <p:nvCxnSpPr>
              <p:cNvPr id="21" name="直接箭头连接符 25"/>
              <p:cNvCxnSpPr/>
              <p:nvPr/>
            </p:nvCxnSpPr>
            <p:spPr>
              <a:xfrm>
                <a:off x="4257678" y="2482689"/>
                <a:ext cx="820497" cy="0"/>
              </a:xfrm>
              <a:prstGeom prst="straightConnector1">
                <a:avLst/>
              </a:prstGeom>
              <a:ln>
                <a:gradFill>
                  <a:gsLst>
                    <a:gs pos="100000">
                      <a:srgbClr val="4C678E">
                        <a:alpha val="0"/>
                      </a:srgbClr>
                    </a:gs>
                    <a:gs pos="0">
                      <a:srgbClr val="4C678E"/>
                    </a:gs>
                  </a:gsLst>
                  <a:lin ang="10800000" scaled="0"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5"/>
              <p:cNvCxnSpPr/>
              <p:nvPr/>
            </p:nvCxnSpPr>
            <p:spPr>
              <a:xfrm flipH="1">
                <a:off x="7334253" y="2482689"/>
                <a:ext cx="820497" cy="0"/>
              </a:xfrm>
              <a:prstGeom prst="straightConnector1">
                <a:avLst/>
              </a:prstGeom>
              <a:ln>
                <a:gradFill>
                  <a:gsLst>
                    <a:gs pos="100000">
                      <a:srgbClr val="4C678E">
                        <a:alpha val="0"/>
                      </a:srgbClr>
                    </a:gs>
                    <a:gs pos="0">
                      <a:srgbClr val="4C678E"/>
                    </a:gs>
                  </a:gsLst>
                  <a:lin ang="10800000" scaled="0"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矩形: 圆角 29"/>
          <p:cNvSpPr/>
          <p:nvPr/>
        </p:nvSpPr>
        <p:spPr>
          <a:xfrm>
            <a:off x="5103438" y="5276247"/>
            <a:ext cx="1985124" cy="347242"/>
          </a:xfrm>
          <a:prstGeom prst="roundRect">
            <a:avLst>
              <a:gd name="adj" fmla="val 50000"/>
            </a:avLst>
          </a:prstGeom>
          <a:solidFill>
            <a:srgbClr val="4C678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THNAK YOU</a:t>
            </a:r>
            <a:endParaRPr lang="zh-CN" altLang="en-US" sz="14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357370" y="4113530"/>
            <a:ext cx="309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pc="600" dirty="0">
                <a:solidFill>
                  <a:srgbClr val="4C678E"/>
                </a:solidFill>
                <a:latin typeface="+mn-ea"/>
              </a:rPr>
              <a:t>计算机院软件工程</a:t>
            </a:r>
            <a:endParaRPr lang="zh-CN" altLang="en-US" spc="600" dirty="0">
              <a:solidFill>
                <a:srgbClr val="4C678E"/>
              </a:solidFill>
              <a:latin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39752" y="508992"/>
            <a:ext cx="5086350" cy="588645"/>
            <a:chOff x="706580" y="632385"/>
            <a:chExt cx="5086350" cy="588645"/>
          </a:xfrm>
        </p:grpSpPr>
        <p:sp>
          <p:nvSpPr>
            <p:cNvPr id="22" name="文本框 21"/>
            <p:cNvSpPr txBox="1"/>
            <p:nvPr/>
          </p:nvSpPr>
          <p:spPr>
            <a:xfrm>
              <a:off x="706580" y="632385"/>
              <a:ext cx="283457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spc="600" dirty="0">
                  <a:solidFill>
                    <a:srgbClr val="4C678E"/>
                  </a:solidFill>
                  <a:latin typeface="汉仪心海行楷W" panose="00020600040101010101" pitchFamily="18" charset="-122"/>
                  <a:ea typeface="汉仪心海行楷W" panose="00020600040101010101" pitchFamily="18" charset="-122"/>
                </a:rPr>
                <a:t>天津农学院</a:t>
              </a:r>
              <a:endParaRPr lang="zh-CN" altLang="en-US" sz="2400" spc="600" dirty="0">
                <a:solidFill>
                  <a:srgbClr val="4C678E"/>
                </a:solidFill>
                <a:latin typeface="汉仪心海行楷W" panose="00020600040101010101" pitchFamily="18" charset="-122"/>
                <a:ea typeface="汉仪心海行楷W" panose="00020600040101010101" pitchFamily="18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44680" y="991160"/>
              <a:ext cx="5048250" cy="22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TIAN JING AGRICULTURAL  UNIVERSITY </a:t>
              </a:r>
              <a:endParaRPr lang="zh-CN" altLang="en-US" sz="9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838960" y="2695575"/>
            <a:ext cx="8286115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spc="600" dirty="0">
                <a:solidFill>
                  <a:srgbClr val="4C678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感谢各位老师批评指正</a:t>
            </a:r>
            <a:endParaRPr lang="zh-CN" altLang="en-US" sz="4800" spc="600" dirty="0">
              <a:solidFill>
                <a:srgbClr val="4C678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2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3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4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5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6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7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8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9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10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11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12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13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14.xml><?xml version="1.0" encoding="utf-8"?>
<p:tagLst xmlns:p="http://schemas.openxmlformats.org/presentationml/2006/main">
  <p:tag name="KSO_WM_DIAGRAM_VIRTUALLY_FRAME" val="{&quot;height&quot;:205.31219785484217,&quot;left&quot;:27.6,&quot;top&quot;:204.65944881889763,&quot;width&quot;:858.4}"/>
</p:tagLst>
</file>

<file path=ppt/tags/tag15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16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17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18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19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0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1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2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3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4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5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6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7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8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29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30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31.xml><?xml version="1.0" encoding="utf-8"?>
<p:tagLst xmlns:p="http://schemas.openxmlformats.org/presentationml/2006/main">
  <p:tag name="KSO_WM_DIAGRAM_VIRTUALLY_FRAME" val="{&quot;height&quot;:269.4548818897638,&quot;left&quot;:98.5,&quot;top&quot;:162,&quot;width&quot;:763}"/>
</p:tagLst>
</file>

<file path=ppt/tags/tag32.xml><?xml version="1.0" encoding="utf-8"?>
<p:tagLst xmlns:p="http://schemas.openxmlformats.org/presentationml/2006/main">
  <p:tag name="KSO_WM_DIAGRAM_VIRTUALLY_FRAME" val="{&quot;height&quot;:350.16723047890326,&quot;left&quot;:41.9,&quot;top&quot;:179.29047244094488,&quot;width&quot;:792.9571653543305}"/>
</p:tagLst>
</file>

<file path=ppt/tags/tag33.xml><?xml version="1.0" encoding="utf-8"?>
<p:tagLst xmlns:p="http://schemas.openxmlformats.org/presentationml/2006/main">
  <p:tag name="KSO_WM_DIAGRAM_VIRTUALLY_FRAME" val="{&quot;height&quot;:350.16723047890326,&quot;left&quot;:41.9,&quot;top&quot;:179.29047244094488,&quot;width&quot;:792.9571653543305}"/>
</p:tagLst>
</file>

<file path=ppt/tags/tag34.xml><?xml version="1.0" encoding="utf-8"?>
<p:tagLst xmlns:p="http://schemas.openxmlformats.org/presentationml/2006/main">
  <p:tag name="KSO_WM_DIAGRAM_VIRTUALLY_FRAME" val="{&quot;height&quot;:350.16723047890326,&quot;left&quot;:41.9,&quot;top&quot;:179.29047244094488,&quot;width&quot;:792.9571653543305}"/>
</p:tagLst>
</file>

<file path=ppt/tags/tag35.xml><?xml version="1.0" encoding="utf-8"?>
<p:tagLst xmlns:p="http://schemas.openxmlformats.org/presentationml/2006/main">
  <p:tag name="KSO_WM_DIAGRAM_VIRTUALLY_FRAME" val="{&quot;height&quot;:350.16723047890326,&quot;left&quot;:41.9,&quot;top&quot;:179.29047244094488,&quot;width&quot;:792.9571653543305}"/>
</p:tagLst>
</file>

<file path=ppt/tags/tag36.xml><?xml version="1.0" encoding="utf-8"?>
<p:tagLst xmlns:p="http://schemas.openxmlformats.org/presentationml/2006/main">
  <p:tag name="KSO_WM_DIAGRAM_VIRTUALLY_FRAME" val="{&quot;height&quot;:350.16723047890326,&quot;left&quot;:41.9,&quot;top&quot;:179.29047244094488,&quot;width&quot;:792.9571653543305}"/>
</p:tagLst>
</file>

<file path=ppt/tags/tag37.xml><?xml version="1.0" encoding="utf-8"?>
<p:tagLst xmlns:p="http://schemas.openxmlformats.org/presentationml/2006/main">
  <p:tag name="KSO_WM_DIAGRAM_VIRTUALLY_FRAME" val="{&quot;height&quot;:350.16723047890326,&quot;left&quot;:41.9,&quot;top&quot;:179.29047244094488,&quot;width&quot;:792.9571653543305}"/>
</p:tagLst>
</file>

<file path=ppt/tags/tag38.xml><?xml version="1.0" encoding="utf-8"?>
<p:tagLst xmlns:p="http://schemas.openxmlformats.org/presentationml/2006/main">
  <p:tag name="KSO_WM_DIAGRAM_VIRTUALLY_FRAME" val="{&quot;height&quot;:350.16723047890326,&quot;left&quot;:41.9,&quot;top&quot;:179.29047244094488,&quot;width&quot;:792.9571653543305}"/>
</p:tagLst>
</file>

<file path=ppt/tags/tag39.xml><?xml version="1.0" encoding="utf-8"?>
<p:tagLst xmlns:p="http://schemas.openxmlformats.org/presentationml/2006/main">
  <p:tag name="KSO_WM_DIAGRAM_VIRTUALLY_FRAME" val="{&quot;height&quot;:350.16723047890326,&quot;left&quot;:41.9,&quot;top&quot;:179.29047244094488,&quot;width&quot;:792.957165354330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1770</Words>
  <Application>WPS 演示</Application>
  <PresentationFormat>宽屏</PresentationFormat>
  <Paragraphs>168</Paragraphs>
  <Slides>12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思源宋体 Heavy</vt:lpstr>
      <vt:lpstr>汉仪心海行楷W</vt:lpstr>
      <vt:lpstr>汉仪铁线黑-65简</vt:lpstr>
      <vt:lpstr>思源黑体 CN Normal</vt:lpstr>
      <vt:lpstr>黑体</vt:lpstr>
      <vt:lpstr>Fira Sans</vt:lpstr>
      <vt:lpstr>Segoe Print</vt:lpstr>
      <vt:lpstr>等线</vt:lpstr>
      <vt:lpstr>微软雅黑</vt:lpstr>
      <vt:lpstr>Arial Unicode MS</vt:lpstr>
      <vt:lpstr>等线 Light</vt:lpstr>
      <vt:lpstr>Calibri</vt:lpstr>
      <vt:lpstr>Office 主题​​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郑腾</cp:lastModifiedBy>
  <cp:revision>55</cp:revision>
  <dcterms:created xsi:type="dcterms:W3CDTF">2018-04-18T06:17:00Z</dcterms:created>
  <dcterms:modified xsi:type="dcterms:W3CDTF">2026-01-28T16:00:13Z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620F511A898F4A80B4ECF269EF131CF9_12</vt:lpwstr>
  </property>
</Properties>
</file>